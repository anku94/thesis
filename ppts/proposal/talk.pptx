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7"/>
  </p:notesMasterIdLst>
  <p:sldIdLst>
    <p:sldId id="308" r:id="rId2"/>
    <p:sldId id="259" r:id="rId3"/>
    <p:sldId id="260" r:id="rId4"/>
    <p:sldId id="338" r:id="rId5"/>
    <p:sldId id="263" r:id="rId6"/>
    <p:sldId id="264" r:id="rId7"/>
    <p:sldId id="265" r:id="rId8"/>
    <p:sldId id="266" r:id="rId9"/>
    <p:sldId id="358" r:id="rId10"/>
    <p:sldId id="359" r:id="rId11"/>
    <p:sldId id="339" r:id="rId12"/>
    <p:sldId id="341" r:id="rId13"/>
    <p:sldId id="342" r:id="rId14"/>
    <p:sldId id="343" r:id="rId15"/>
    <p:sldId id="344" r:id="rId16"/>
    <p:sldId id="349" r:id="rId17"/>
    <p:sldId id="357" r:id="rId18"/>
    <p:sldId id="345" r:id="rId19"/>
    <p:sldId id="347" r:id="rId20"/>
    <p:sldId id="350" r:id="rId21"/>
    <p:sldId id="356" r:id="rId22"/>
    <p:sldId id="353" r:id="rId23"/>
    <p:sldId id="352" r:id="rId24"/>
    <p:sldId id="354" r:id="rId25"/>
    <p:sldId id="355" r:id="rId26"/>
    <p:sldId id="302" r:id="rId27"/>
    <p:sldId id="303" r:id="rId28"/>
    <p:sldId id="304" r:id="rId29"/>
    <p:sldId id="305" r:id="rId30"/>
    <p:sldId id="306" r:id="rId31"/>
    <p:sldId id="307" r:id="rId32"/>
    <p:sldId id="309" r:id="rId33"/>
    <p:sldId id="348" r:id="rId34"/>
    <p:sldId id="346" r:id="rId35"/>
    <p:sldId id="351" r:id="rId36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334E8AE-C62D-BD4F-AB09-592CFA5E513F}">
          <p14:sldIdLst>
            <p14:sldId id="308"/>
            <p14:sldId id="259"/>
            <p14:sldId id="260"/>
            <p14:sldId id="338"/>
            <p14:sldId id="263"/>
            <p14:sldId id="264"/>
            <p14:sldId id="265"/>
            <p14:sldId id="266"/>
          </p14:sldIdLst>
        </p14:section>
        <p14:section name="CARP" id="{0F3AF875-4079-574D-B3D9-FE116DC10202}">
          <p14:sldIdLst>
            <p14:sldId id="358"/>
          </p14:sldIdLst>
        </p14:section>
        <p14:section name="AMR" id="{252B40D1-EBD0-CD4D-AB63-FF49A64AC7F8}">
          <p14:sldIdLst>
            <p14:sldId id="359"/>
          </p14:sldIdLst>
        </p14:section>
        <p14:section name="ORCA" id="{06FD04DD-C90C-354A-BCB7-6786915F1EE0}">
          <p14:sldIdLst>
            <p14:sldId id="339"/>
            <p14:sldId id="341"/>
            <p14:sldId id="342"/>
            <p14:sldId id="343"/>
            <p14:sldId id="344"/>
            <p14:sldId id="349"/>
            <p14:sldId id="357"/>
            <p14:sldId id="345"/>
            <p14:sldId id="347"/>
            <p14:sldId id="350"/>
            <p14:sldId id="356"/>
            <p14:sldId id="353"/>
            <p14:sldId id="352"/>
          </p14:sldIdLst>
        </p14:section>
        <p14:section name="Epilogue" id="{DFA5ADD9-7CE0-334D-B75D-B57B7009D540}">
          <p14:sldIdLst>
            <p14:sldId id="354"/>
            <p14:sldId id="355"/>
          </p14:sldIdLst>
        </p14:section>
        <p14:section name="Notes" id="{30506D77-24D4-8549-BC4D-A7AD4B54CB7A}">
          <p14:sldIdLst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Figures" id="{DC14A2BD-1222-1540-BCB2-A088E8913B0E}">
          <p14:sldIdLst>
            <p14:sldId id="309"/>
            <p14:sldId id="348"/>
            <p14:sldId id="346"/>
            <p14:sldId id="35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3035"/>
    <a:srgbClr val="FFDBDB"/>
    <a:srgbClr val="5F270A"/>
    <a:srgbClr val="FFEAEA"/>
    <a:srgbClr val="FF0000"/>
    <a:srgbClr val="883A10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53"/>
    <p:restoredTop sz="83729"/>
  </p:normalViewPr>
  <p:slideViewPr>
    <p:cSldViewPr snapToGrid="0">
      <p:cViewPr>
        <p:scale>
          <a:sx n="84" d="100"/>
          <a:sy n="84" d="100"/>
        </p:scale>
        <p:origin x="14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FB11B-75CA-504A-B738-04EAC52E35F2}" type="datetimeFigureOut">
              <a:rPr lang="en-US" smtClean="0"/>
              <a:t>8/13/25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7F64E-BA77-5F4F-9ECD-724888EC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82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 slide. Precursor for thesis-level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B7F64E-BA77-5F4F-9ECD-724888ECEF6F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65591-9863-9A4C-2DE3-207B84308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89A74E-BE3E-A52B-0F34-F1E43848F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7C009-0AA0-BD7D-94FA-E8147638B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buildouts</a:t>
            </a:r>
          </a:p>
          <a:p>
            <a:endParaRPr lang="en-US" dirty="0"/>
          </a:p>
          <a:p>
            <a:r>
              <a:rPr lang="en-US" dirty="0"/>
              <a:t>1. Task schedule</a:t>
            </a:r>
          </a:p>
          <a:p>
            <a:r>
              <a:rPr lang="en-US" dirty="0"/>
              <a:t>2. Repeats</a:t>
            </a:r>
          </a:p>
          <a:p>
            <a:r>
              <a:rPr lang="en-US" dirty="0"/>
              <a:t>3. --</a:t>
            </a:r>
          </a:p>
          <a:p>
            <a:r>
              <a:rPr lang="en-US" dirty="0"/>
              <a:t>4. </a:t>
            </a:r>
          </a:p>
          <a:p>
            <a:r>
              <a:rPr lang="en-US" dirty="0"/>
              <a:t>5. Time</a:t>
            </a:r>
          </a:p>
          <a:p>
            <a:r>
              <a:rPr lang="en-US" dirty="0"/>
              <a:t>6. Mesh change</a:t>
            </a:r>
          </a:p>
          <a:p>
            <a:r>
              <a:rPr lang="en-US" dirty="0"/>
              <a:t>7. Continues</a:t>
            </a:r>
          </a:p>
          <a:p>
            <a:endParaRPr lang="en-US" dirty="0"/>
          </a:p>
          <a:p>
            <a:r>
              <a:rPr lang="en-US" dirty="0"/>
              <a:t>&lt;Transition&gt; - Simplify and start focusing on one timestep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0D05F-D42B-8440-03E0-E5981FD8B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24278-BA80-4C92-80E4-344FBDD153AD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484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ABCD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B7F64E-BA77-5F4F-9ECD-724888ECEF6F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ABCD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B7F64E-BA77-5F4F-9ECD-724888ECEF6F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ABCD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B7F64E-BA77-5F4F-9ECD-724888ECEF6F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 3: passive entity vs active requirements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7F64E-BA77-5F4F-9ECD-724888ECEF6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52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7F64E-BA77-5F4F-9ECD-724888ECEF6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00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480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688C7-470D-5444-9709-B859E51D614B}" type="datetime4">
              <a:rPr lang="en-US" smtClean="0"/>
              <a:t>August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26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806"/>
            <a:ext cx="12801600" cy="1590676"/>
          </a:xfrm>
        </p:spPr>
        <p:txBody>
          <a:bodyPr/>
          <a:lstStyle>
            <a:lvl1pPr>
              <a:defRPr>
                <a:solidFill>
                  <a:srgbClr val="33669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89903"/>
            <a:ext cx="12801600" cy="5486400"/>
          </a:xfrm>
        </p:spPr>
        <p:txBody>
          <a:bodyPr/>
          <a:lstStyle>
            <a:lvl1pPr marL="347663" indent="-339725">
              <a:tabLst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822325" indent="-419100">
              <a:buFont typeface="Courier New" panose="02070309020205020404" pitchFamily="49" charset="0"/>
              <a:buChar char="o"/>
              <a:tabLst/>
              <a:defRPr>
                <a:solidFill>
                  <a:schemeClr val="bg2">
                    <a:lumMod val="2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D071B714-D2FC-DB1C-6E54-D54205FF731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05840" y="1147140"/>
            <a:ext cx="1261872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56746" tIns="78373" rIns="156746" bIns="78373"/>
          <a:lstStyle/>
          <a:p>
            <a:endParaRPr lang="en-US" sz="2592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B2B37F-F343-4833-9D3A-5D4D28BF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21637" y="7802761"/>
            <a:ext cx="3291840" cy="438150"/>
          </a:xfrm>
        </p:spPr>
        <p:txBody>
          <a:bodyPr/>
          <a:lstStyle>
            <a:lvl1pPr>
              <a:defRPr sz="1200"/>
            </a:lvl1pPr>
          </a:lstStyle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00F7A94-D97D-B9B5-A1DE-D797422C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AB6BCC-4665-8F36-E48C-23CF24C6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22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965EA-573C-CA42-B56E-E904E7B6D17A}" type="datetime4">
              <a:rPr lang="en-US" smtClean="0"/>
              <a:t>August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12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8704F-7339-EB43-80BF-952BF7E55C7A}" type="datetime4">
              <a:rPr lang="en-US" smtClean="0"/>
              <a:t>August 13,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3C66F2C3-F92D-C643-07A8-1FA067C2BAE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05840" y="1284786"/>
            <a:ext cx="1261872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56746" tIns="78373" rIns="156746" bIns="78373"/>
          <a:lstStyle/>
          <a:p>
            <a:endParaRPr lang="en-US" sz="2592" dirty="0"/>
          </a:p>
        </p:txBody>
      </p:sp>
    </p:spTree>
    <p:extLst>
      <p:ext uri="{BB962C8B-B14F-4D97-AF65-F5344CB8AC3E}">
        <p14:creationId xmlns:p14="http://schemas.microsoft.com/office/powerpoint/2010/main" val="73754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4008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D63F-D456-E84E-A5A1-A5EA53217D76}" type="datetime4">
              <a:rPr lang="en-US" smtClean="0"/>
              <a:t>August 13,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1431F451-CCC1-0493-1D2F-CA0BB55F348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05840" y="1284786"/>
            <a:ext cx="1261872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56746" tIns="78373" rIns="156746" bIns="78373"/>
          <a:lstStyle/>
          <a:p>
            <a:endParaRPr lang="en-US" sz="2592" dirty="0"/>
          </a:p>
        </p:txBody>
      </p:sp>
    </p:spTree>
    <p:extLst>
      <p:ext uri="{BB962C8B-B14F-4D97-AF65-F5344CB8AC3E}">
        <p14:creationId xmlns:p14="http://schemas.microsoft.com/office/powerpoint/2010/main" val="3412658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8301-40AA-814C-9AFA-84470A23CB29}" type="datetime4">
              <a:rPr lang="en-US" smtClean="0"/>
              <a:t>August 13,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13C86A63-0CDF-2288-04B8-CA4A3BB36F6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05840" y="1284786"/>
            <a:ext cx="1261872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56746" tIns="78373" rIns="156746" bIns="78373"/>
          <a:lstStyle/>
          <a:p>
            <a:endParaRPr lang="en-US" sz="2592" dirty="0"/>
          </a:p>
        </p:txBody>
      </p:sp>
    </p:spTree>
    <p:extLst>
      <p:ext uri="{BB962C8B-B14F-4D97-AF65-F5344CB8AC3E}">
        <p14:creationId xmlns:p14="http://schemas.microsoft.com/office/powerpoint/2010/main" val="264067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960BB-A0AC-DB4C-8009-6FD1AE11AAB7}" type="datetime4">
              <a:rPr lang="en-US" smtClean="0"/>
              <a:t>August 13,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71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0946-C753-1A4B-96B7-46ADFDB3584D}" type="datetime4">
              <a:rPr lang="en-US" smtClean="0"/>
              <a:t>August 13,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54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C29C-49A4-2E4D-A043-6E788ADCEE04}" type="datetime4">
              <a:rPr lang="en-US" smtClean="0"/>
              <a:t>August 13,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101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6A97-E814-E840-AD13-CCF3B16E8F1D}" type="datetime4">
              <a:rPr lang="en-US" smtClean="0"/>
              <a:t>August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69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DBCBA-7F60-874A-B2B4-AE66D9D08411}" type="datetime4">
              <a:rPr lang="en-US" smtClean="0"/>
              <a:t>August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646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-5004"/>
            <a:ext cx="1280160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691640"/>
            <a:ext cx="12801600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710062" y="780276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0171" y="780276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61179" y="7791186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3C28F8B-7678-F54D-B752-F6E8A9D5F20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A0173E44-F426-ACD6-5934-60C27BE3753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44942" y="7837815"/>
            <a:ext cx="13167360" cy="0"/>
          </a:xfrm>
          <a:prstGeom prst="line">
            <a:avLst/>
          </a:prstGeom>
          <a:noFill/>
          <a:ln w="44450" cmpd="thickThin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56746" tIns="78373" rIns="156746" bIns="78373"/>
          <a:lstStyle/>
          <a:p>
            <a:endParaRPr lang="en-US" sz="2592"/>
          </a:p>
        </p:txBody>
      </p:sp>
      <p:pic>
        <p:nvPicPr>
          <p:cNvPr id="8" name="Picture 13" descr="mark_pdl_l_blue">
            <a:extLst>
              <a:ext uri="{FF2B5EF4-FFF2-40B4-BE49-F238E27FC236}">
                <a16:creationId xmlns:a16="http://schemas.microsoft.com/office/drawing/2014/main" id="{48040D85-2817-98F2-BE46-B94D647E1C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942" y="7262347"/>
            <a:ext cx="2306134" cy="55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061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rgbClr val="336699"/>
          </a:solidFill>
          <a:latin typeface="+mj-lt"/>
          <a:ea typeface="+mj-ea"/>
          <a:cs typeface="+mj-cs"/>
        </a:defRPr>
      </a:lvl1pPr>
    </p:titleStyle>
    <p:bodyStyle>
      <a:lvl1pPr marL="342900" indent="-336550" algn="l" defTabSz="1097280" rtl="0" eaLnBrk="1" latinLnBrk="0" hangingPunct="1">
        <a:lnSpc>
          <a:spcPct val="90000"/>
        </a:lnSpc>
        <a:spcBef>
          <a:spcPts val="2200"/>
        </a:spcBef>
        <a:buFont typeface="Arial" panose="020B0604020202020204" pitchFamily="34" charset="0"/>
        <a:buChar char="•"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22325" indent="-417513" algn="l" defTabSz="1097280" rtl="0" eaLnBrk="1" latinLnBrk="0" hangingPunct="1">
        <a:lnSpc>
          <a:spcPct val="90000"/>
        </a:lnSpc>
        <a:spcBef>
          <a:spcPts val="600"/>
        </a:spcBef>
        <a:buFont typeface="Courier New" panose="02070309020205020404" pitchFamily="49" charset="0"/>
        <a:buChar char="o"/>
        <a:tabLst/>
        <a:defRPr sz="2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2692" userDrawn="1">
          <p15:clr>
            <a:srgbClr val="F26B43"/>
          </p15:clr>
        </p15:guide>
        <p15:guide id="7" pos="8640" userDrawn="1">
          <p15:clr>
            <a:srgbClr val="F26B43"/>
          </p15:clr>
        </p15:guide>
        <p15:guide id="8" pos="576" userDrawn="1">
          <p15:clr>
            <a:srgbClr val="F26B43"/>
          </p15:clr>
        </p15:guide>
        <p15:guide id="9" orient="horz" pos="4536" userDrawn="1">
          <p15:clr>
            <a:srgbClr val="F26B43"/>
          </p15:clr>
        </p15:guide>
        <p15:guide id="10" orient="horz" pos="6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4.svg"/><Relationship Id="rId3" Type="http://schemas.openxmlformats.org/officeDocument/2006/relationships/image" Target="../media/image15.emf"/><Relationship Id="rId7" Type="http://schemas.openxmlformats.org/officeDocument/2006/relationships/image" Target="../media/image19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13.emf"/><Relationship Id="rId5" Type="http://schemas.openxmlformats.org/officeDocument/2006/relationships/image" Target="../media/image17.png"/><Relationship Id="rId15" Type="http://schemas.openxmlformats.org/officeDocument/2006/relationships/image" Target="../media/image14.emf"/><Relationship Id="rId10" Type="http://schemas.openxmlformats.org/officeDocument/2006/relationships/image" Target="../media/image22.svg"/><Relationship Id="rId4" Type="http://schemas.openxmlformats.org/officeDocument/2006/relationships/image" Target="../media/image16.emf"/><Relationship Id="rId9" Type="http://schemas.openxmlformats.org/officeDocument/2006/relationships/image" Target="../media/image21.png"/><Relationship Id="rId14" Type="http://schemas.openxmlformats.org/officeDocument/2006/relationships/image" Target="../media/image2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34.emf"/><Relationship Id="rId3" Type="http://schemas.openxmlformats.org/officeDocument/2006/relationships/image" Target="../media/image15.emf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9.emf"/><Relationship Id="rId10" Type="http://schemas.openxmlformats.org/officeDocument/2006/relationships/image" Target="../media/image22.svg"/><Relationship Id="rId4" Type="http://schemas.openxmlformats.org/officeDocument/2006/relationships/image" Target="../media/image16.emf"/><Relationship Id="rId9" Type="http://schemas.openxmlformats.org/officeDocument/2006/relationships/image" Target="../media/image21.png"/><Relationship Id="rId14" Type="http://schemas.openxmlformats.org/officeDocument/2006/relationships/image" Target="../media/image35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964E1-1AF9-68C5-AB14-7965DAFBA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843280"/>
            <a:ext cx="13716000" cy="2865120"/>
          </a:xfrm>
        </p:spPr>
        <p:txBody>
          <a:bodyPr>
            <a:noAutofit/>
          </a:bodyPr>
          <a:lstStyle/>
          <a:p>
            <a:r>
              <a:rPr lang="en-US" sz="5400" dirty="0"/>
              <a:t>A Unified Approach to Bulk Synchronous Parallel Observability Using Relational Dataflows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6B539-1365-015D-E38A-476DA1AD3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405657"/>
            <a:ext cx="10972800" cy="757554"/>
          </a:xfrm>
        </p:spPr>
        <p:txBody>
          <a:bodyPr>
            <a:normAutofit/>
          </a:bodyPr>
          <a:lstStyle/>
          <a:p>
            <a:r>
              <a:rPr lang="en-US" sz="4400" dirty="0"/>
              <a:t>ANKUSH JAIN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FE3758D-8AB8-3D73-5CA9-772A79A15B83}"/>
              </a:ext>
            </a:extLst>
          </p:cNvPr>
          <p:cNvSpPr txBox="1">
            <a:spLocks/>
          </p:cNvSpPr>
          <p:nvPr/>
        </p:nvSpPr>
        <p:spPr>
          <a:xfrm>
            <a:off x="1828800" y="6120565"/>
            <a:ext cx="10972800" cy="518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0" algn="ctr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indent="0" algn="ctr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indent="0" algn="ctr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indent="0" algn="ctr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indent="0" algn="ctr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indent="0" algn="ctr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indent="0" algn="ctr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indent="0" algn="ctr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PARALLEL DATA LABORATORY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7F2DB80-9309-DB83-8AA8-BF956DEB575D}"/>
              </a:ext>
            </a:extLst>
          </p:cNvPr>
          <p:cNvSpPr txBox="1">
            <a:spLocks/>
          </p:cNvSpPr>
          <p:nvPr/>
        </p:nvSpPr>
        <p:spPr>
          <a:xfrm>
            <a:off x="1828800" y="6954520"/>
            <a:ext cx="10972800" cy="518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0" algn="ctr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indent="0" algn="ctr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indent="0" algn="ctr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indent="0" algn="ctr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indent="0" algn="ctr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indent="0" algn="ctr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indent="0" algn="ctr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indent="0" algn="ctr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Carnegie Mellon University</a:t>
            </a:r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FEA1B3C5-3822-59D8-871D-DE69C9AFB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3968496"/>
            <a:ext cx="109728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56746" tIns="78373" rIns="156746" bIns="78373"/>
          <a:lstStyle/>
          <a:p>
            <a:endParaRPr lang="en-US" sz="2592" dirty="0"/>
          </a:p>
        </p:txBody>
      </p:sp>
    </p:spTree>
    <p:extLst>
      <p:ext uri="{BB962C8B-B14F-4D97-AF65-F5344CB8AC3E}">
        <p14:creationId xmlns:p14="http://schemas.microsoft.com/office/powerpoint/2010/main" val="55117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206"/>
            <a:ext cx="12801600" cy="1590676"/>
          </a:xfrm>
        </p:spPr>
        <p:txBody>
          <a:bodyPr/>
          <a:lstStyle/>
          <a:p>
            <a:pPr marL="0" lvl="0" indent="0">
              <a:buNone/>
            </a:pPr>
            <a:r>
              <a:t>This Work: BSP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Bulk-Synchronous Parallel (BSP) is big and important</a:t>
            </a:r>
          </a:p>
          <a:p>
            <a:pPr lvl="0"/>
            <a:r>
              <a:t>Applications: HPC and ML</a:t>
            </a:r>
          </a:p>
          <a:p>
            <a:pPr lvl="0"/>
            <a:r>
              <a:t>BSP is hard. Efficiency challenges on compute and data paths.</a:t>
            </a:r>
          </a:p>
          <a:p>
            <a:pPr lvl="1"/>
            <a:r>
              <a:rPr i="1"/>
              <a:t>Data path</a:t>
            </a:r>
            <a:r>
              <a:t>: speeding up ingestion to insight</a:t>
            </a:r>
          </a:p>
          <a:p>
            <a:pPr lvl="1"/>
            <a:r>
              <a:rPr i="1"/>
              <a:t>Compute path</a:t>
            </a:r>
            <a:r>
              <a:t>: cluster utilization and performance</a:t>
            </a:r>
          </a:p>
          <a:p>
            <a:pPr lvl="0"/>
            <a:r>
              <a:t>Our work:</a:t>
            </a:r>
          </a:p>
          <a:p>
            <a:pPr lvl="1"/>
            <a:r>
              <a:t>HPC: CARP (data path), AMR performance (compute path)</a:t>
            </a:r>
          </a:p>
          <a:p>
            <a:pPr lvl="1"/>
            <a:r>
              <a:t>HPC + ML: ORCA: unifying lessons from the two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B2B37F-F343-4833-9D3A-5D4D28BF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21637" y="7802761"/>
            <a:ext cx="3291840" cy="438150"/>
          </a:xfrm>
        </p:spPr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00F7A94-D97D-B9B5-A1DE-D797422C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AB6BCC-4665-8F36-E48C-23CF24C6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255">
            <a:extLst>
              <a:ext uri="{FF2B5EF4-FFF2-40B4-BE49-F238E27FC236}">
                <a16:creationId xmlns:a16="http://schemas.microsoft.com/office/drawing/2014/main" id="{6CE66DFF-8B4C-DE95-D19B-749E47C06A7E}"/>
              </a:ext>
            </a:extLst>
          </p:cNvPr>
          <p:cNvSpPr/>
          <p:nvPr/>
        </p:nvSpPr>
        <p:spPr>
          <a:xfrm>
            <a:off x="462459" y="1394726"/>
            <a:ext cx="8196985" cy="5779448"/>
          </a:xfrm>
          <a:prstGeom prst="rect">
            <a:avLst/>
          </a:prstGeom>
          <a:solidFill>
            <a:schemeClr val="bg1">
              <a:lumMod val="95000"/>
              <a:alpha val="19003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>
                    <a:lumMod val="85000"/>
                  </a:schemeClr>
                </a:solidFill>
              </a:ln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24B3F4D-4646-47A4-11AE-4FF4A5917A3B}"/>
              </a:ext>
            </a:extLst>
          </p:cNvPr>
          <p:cNvSpPr/>
          <p:nvPr/>
        </p:nvSpPr>
        <p:spPr>
          <a:xfrm>
            <a:off x="8947987" y="5380163"/>
            <a:ext cx="5004492" cy="1794011"/>
          </a:xfrm>
          <a:prstGeom prst="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2DDCE800-02E2-1030-3756-7AD21FB26755}"/>
              </a:ext>
            </a:extLst>
          </p:cNvPr>
          <p:cNvSpPr/>
          <p:nvPr/>
        </p:nvSpPr>
        <p:spPr>
          <a:xfrm>
            <a:off x="8947987" y="3367447"/>
            <a:ext cx="5004492" cy="1794011"/>
          </a:xfrm>
          <a:prstGeom prst="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C9734D7F-73A4-E6A6-BDA2-38FB2F4EA053}"/>
              </a:ext>
            </a:extLst>
          </p:cNvPr>
          <p:cNvSpPr/>
          <p:nvPr/>
        </p:nvSpPr>
        <p:spPr>
          <a:xfrm>
            <a:off x="8971280" y="1394726"/>
            <a:ext cx="5004492" cy="1794011"/>
          </a:xfrm>
          <a:prstGeom prst="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206"/>
            <a:ext cx="12801600" cy="1590676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BSP: Hardware and Application Arch</a:t>
            </a:r>
            <a:r>
              <a:rPr lang="en-US" dirty="0"/>
              <a:t>e</a:t>
            </a:r>
            <a:r>
              <a:rPr dirty="0"/>
              <a:t>types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B2B37F-F343-4833-9D3A-5D4D28BF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21637" y="7802761"/>
            <a:ext cx="3291840" cy="438150"/>
          </a:xfrm>
        </p:spPr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00F7A94-D97D-B9B5-A1DE-D797422C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AB6BCC-4665-8F36-E48C-23CF24C6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5A94EB82-2CB3-0996-5C39-D7CC0850CE8B}"/>
              </a:ext>
            </a:extLst>
          </p:cNvPr>
          <p:cNvGrpSpPr/>
          <p:nvPr/>
        </p:nvGrpSpPr>
        <p:grpSpPr>
          <a:xfrm>
            <a:off x="675819" y="1633497"/>
            <a:ext cx="7733945" cy="861173"/>
            <a:chOff x="401320" y="1600200"/>
            <a:chExt cx="7733945" cy="861173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D04FFF69-CAE2-BC4A-410B-E7030542091F}"/>
                </a:ext>
              </a:extLst>
            </p:cNvPr>
            <p:cNvSpPr/>
            <p:nvPr/>
          </p:nvSpPr>
          <p:spPr>
            <a:xfrm>
              <a:off x="401320" y="1600200"/>
              <a:ext cx="7690053" cy="861173"/>
            </a:xfrm>
            <a:prstGeom prst="rect">
              <a:avLst/>
            </a:prstGeom>
            <a:solidFill>
              <a:schemeClr val="bg1">
                <a:lumMod val="95000"/>
                <a:alpha val="44515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F3CC5DE-01D7-825B-7F77-FA49C522A0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5181" y="1993284"/>
              <a:ext cx="612935" cy="0"/>
            </a:xfrm>
            <a:prstGeom prst="line">
              <a:avLst/>
            </a:prstGeom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A3D5E87D-E0D2-3B0F-FA5C-4F70AB8C3E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818" y="2001911"/>
              <a:ext cx="569248" cy="0"/>
            </a:xfrm>
            <a:prstGeom prst="line">
              <a:avLst/>
            </a:prstGeom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302180C-84EB-1390-BA4C-6D85F8828A42}"/>
                </a:ext>
              </a:extLst>
            </p:cNvPr>
            <p:cNvSpPr txBox="1"/>
            <p:nvPr/>
          </p:nvSpPr>
          <p:spPr>
            <a:xfrm>
              <a:off x="1250177" y="1738842"/>
              <a:ext cx="29997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Control</a:t>
              </a:r>
              <a:r>
                <a:rPr lang="en-US" dirty="0"/>
                <a:t> (</a:t>
              </a:r>
              <a:r>
                <a:rPr lang="en-US" i="1" dirty="0"/>
                <a:t>Frontend) </a:t>
              </a:r>
              <a:r>
                <a:rPr lang="en-US" b="1" dirty="0"/>
                <a:t>Network</a:t>
              </a:r>
            </a:p>
            <a:p>
              <a:r>
                <a:rPr lang="en-US" b="1" dirty="0"/>
                <a:t>1Gbps</a:t>
              </a:r>
              <a:r>
                <a:rPr lang="en-US" dirty="0"/>
                <a:t> (</a:t>
              </a:r>
              <a:r>
                <a:rPr lang="en-US" i="1" dirty="0"/>
                <a:t>200 Gbps</a:t>
              </a:r>
              <a:r>
                <a:rPr lang="en-US" dirty="0"/>
                <a:t>)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3C4E0D3-E161-2AB7-4FBA-6F367A5D5EAA}"/>
                </a:ext>
              </a:extLst>
            </p:cNvPr>
            <p:cNvSpPr txBox="1"/>
            <p:nvPr/>
          </p:nvSpPr>
          <p:spPr>
            <a:xfrm>
              <a:off x="5186381" y="1688422"/>
              <a:ext cx="294888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Backend Fabric</a:t>
              </a:r>
            </a:p>
            <a:p>
              <a:r>
                <a:rPr lang="en-US" b="1" dirty="0"/>
                <a:t>400 Gbps, </a:t>
              </a:r>
              <a:r>
                <a:rPr lang="en-US" dirty="0"/>
                <a:t>RDMA or similar</a:t>
              </a:r>
            </a:p>
          </p:txBody>
        </p: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2193D735-EDE9-8C10-406B-7FC3B9A70A9C}"/>
              </a:ext>
            </a:extLst>
          </p:cNvPr>
          <p:cNvSpPr txBox="1"/>
          <p:nvPr/>
        </p:nvSpPr>
        <p:spPr>
          <a:xfrm>
            <a:off x="4826466" y="3188737"/>
            <a:ext cx="34581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O(</a:t>
            </a:r>
            <a:r>
              <a:rPr lang="en-US" sz="2400" b="1" i="1" dirty="0"/>
              <a:t>10K</a:t>
            </a:r>
            <a:r>
              <a:rPr lang="en-US" sz="2400" b="1" dirty="0"/>
              <a:t>) Compute Nodes</a:t>
            </a:r>
          </a:p>
          <a:p>
            <a:r>
              <a:rPr lang="en-US" sz="2400" dirty="0"/>
              <a:t>8 GPUs/node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C13505D-7AF3-7BB2-8D6D-98FEDBC8E69B}"/>
              </a:ext>
            </a:extLst>
          </p:cNvPr>
          <p:cNvSpPr txBox="1"/>
          <p:nvPr/>
        </p:nvSpPr>
        <p:spPr>
          <a:xfrm>
            <a:off x="4826466" y="5245308"/>
            <a:ext cx="37382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Shared Storage</a:t>
            </a:r>
          </a:p>
          <a:p>
            <a:r>
              <a:rPr lang="en-US" sz="2400" dirty="0"/>
              <a:t>Parallel Filesystem (</a:t>
            </a:r>
            <a:r>
              <a:rPr lang="en-US" sz="2400" i="1" dirty="0" err="1"/>
              <a:t>Lustre</a:t>
            </a:r>
            <a:r>
              <a:rPr lang="en-US" sz="2400" dirty="0"/>
              <a:t>)</a:t>
            </a:r>
          </a:p>
          <a:p>
            <a:r>
              <a:rPr lang="en-US" sz="2400" dirty="0"/>
              <a:t>Object Store (</a:t>
            </a:r>
            <a:r>
              <a:rPr lang="en-US" sz="2400" i="1" dirty="0"/>
              <a:t>DAOS</a:t>
            </a:r>
            <a:r>
              <a:rPr lang="en-US" sz="2400" dirty="0"/>
              <a:t>)</a:t>
            </a:r>
          </a:p>
          <a:p>
            <a:r>
              <a:rPr lang="en-US" sz="2400" dirty="0"/>
              <a:t>…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52D3C4E3-C8A9-D587-E19E-787D41D8576D}"/>
              </a:ext>
            </a:extLst>
          </p:cNvPr>
          <p:cNvSpPr txBox="1"/>
          <p:nvPr/>
        </p:nvSpPr>
        <p:spPr>
          <a:xfrm>
            <a:off x="9065894" y="1394726"/>
            <a:ext cx="26532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Particle Codes</a:t>
            </a:r>
            <a:r>
              <a:rPr lang="en-US" sz="2800" dirty="0"/>
              <a:t> </a:t>
            </a:r>
          </a:p>
          <a:p>
            <a:r>
              <a:rPr lang="en-US" sz="2800" dirty="0"/>
              <a:t>(</a:t>
            </a:r>
            <a:r>
              <a:rPr lang="en-US" sz="2800" i="1" dirty="0"/>
              <a:t>HPC</a:t>
            </a:r>
            <a:r>
              <a:rPr lang="en-US" sz="2800" dirty="0"/>
              <a:t>)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9AD5E4D-8B2F-16B4-64A0-6CC058E45E3C}"/>
              </a:ext>
            </a:extLst>
          </p:cNvPr>
          <p:cNvSpPr txBox="1"/>
          <p:nvPr/>
        </p:nvSpPr>
        <p:spPr>
          <a:xfrm>
            <a:off x="9092694" y="3441925"/>
            <a:ext cx="227658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Mesh Codes</a:t>
            </a:r>
            <a:r>
              <a:rPr lang="en-US" sz="2800" dirty="0"/>
              <a:t> </a:t>
            </a:r>
          </a:p>
          <a:p>
            <a:r>
              <a:rPr lang="en-US" sz="2800" dirty="0"/>
              <a:t>(</a:t>
            </a:r>
            <a:r>
              <a:rPr lang="en-US" sz="2800" i="1" dirty="0"/>
              <a:t>HPC</a:t>
            </a:r>
            <a:r>
              <a:rPr lang="en-US" sz="2800" dirty="0"/>
              <a:t>)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E0C8BE6-CE45-EC6D-FB8C-473E46377FE1}"/>
              </a:ext>
            </a:extLst>
          </p:cNvPr>
          <p:cNvSpPr txBox="1"/>
          <p:nvPr/>
        </p:nvSpPr>
        <p:spPr>
          <a:xfrm>
            <a:off x="9133780" y="5435841"/>
            <a:ext cx="235160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Data Parallel </a:t>
            </a:r>
          </a:p>
          <a:p>
            <a:r>
              <a:rPr lang="en-US" sz="2800" dirty="0"/>
              <a:t>(</a:t>
            </a:r>
            <a:r>
              <a:rPr lang="en-US" sz="2800" i="1" dirty="0"/>
              <a:t>ML</a:t>
            </a:r>
            <a:r>
              <a:rPr lang="en-US" sz="2800" dirty="0"/>
              <a:t>)</a:t>
            </a:r>
          </a:p>
        </p:txBody>
      </p:sp>
      <p:pic>
        <p:nvPicPr>
          <p:cNvPr id="222" name="Picture 221">
            <a:extLst>
              <a:ext uri="{FF2B5EF4-FFF2-40B4-BE49-F238E27FC236}">
                <a16:creationId xmlns:a16="http://schemas.microsoft.com/office/drawing/2014/main" id="{57D6F6E7-0961-2710-1CF4-B37AE2335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97" y="3305305"/>
            <a:ext cx="4167508" cy="2990353"/>
          </a:xfrm>
          <a:prstGeom prst="rect">
            <a:avLst/>
          </a:prstGeom>
        </p:spPr>
      </p:pic>
      <p:pic>
        <p:nvPicPr>
          <p:cNvPr id="223" name="Picture 2" descr="Particle-in-Cell (PIC) Simulations of Plasmas">
            <a:extLst>
              <a:ext uri="{FF2B5EF4-FFF2-40B4-BE49-F238E27FC236}">
                <a16:creationId xmlns:a16="http://schemas.microsoft.com/office/drawing/2014/main" id="{B4EB930D-8F9C-893D-D90A-66E86BC2A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3715" y="1478522"/>
            <a:ext cx="1708445" cy="1556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0136D968-D252-D78A-4285-92DBDC32F104}"/>
              </a:ext>
            </a:extLst>
          </p:cNvPr>
          <p:cNvCxnSpPr>
            <a:cxnSpLocks/>
            <a:stCxn id="225" idx="3"/>
          </p:cNvCxnSpPr>
          <p:nvPr/>
        </p:nvCxnSpPr>
        <p:spPr>
          <a:xfrm flipV="1">
            <a:off x="11772114" y="2343805"/>
            <a:ext cx="272521" cy="36249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3C08CFED-2368-8776-6C90-CEA4D6F9E415}"/>
              </a:ext>
            </a:extLst>
          </p:cNvPr>
          <p:cNvSpPr txBox="1"/>
          <p:nvPr/>
        </p:nvSpPr>
        <p:spPr>
          <a:xfrm>
            <a:off x="9719373" y="2521630"/>
            <a:ext cx="2052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Computation Unit</a:t>
            </a:r>
          </a:p>
        </p:txBody>
      </p: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D8962419-3D59-27BD-3065-9A14490739B1}"/>
              </a:ext>
            </a:extLst>
          </p:cNvPr>
          <p:cNvGrpSpPr/>
          <p:nvPr/>
        </p:nvGrpSpPr>
        <p:grpSpPr>
          <a:xfrm>
            <a:off x="12189579" y="3646060"/>
            <a:ext cx="1046480" cy="1454840"/>
            <a:chOff x="11755120" y="4347428"/>
            <a:chExt cx="1046480" cy="1454840"/>
          </a:xfrm>
        </p:grpSpPr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B5E3C323-3A21-EC1C-B5CE-FF0D6ED595BC}"/>
                </a:ext>
              </a:extLst>
            </p:cNvPr>
            <p:cNvSpPr/>
            <p:nvPr/>
          </p:nvSpPr>
          <p:spPr>
            <a:xfrm>
              <a:off x="11755120" y="4347428"/>
              <a:ext cx="1046480" cy="10464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70DF11CD-3071-4826-5E5A-2A617E2BD45F}"/>
                </a:ext>
              </a:extLst>
            </p:cNvPr>
            <p:cNvCxnSpPr>
              <a:stCxn id="227" idx="0"/>
              <a:endCxn id="227" idx="2"/>
            </p:cNvCxnSpPr>
            <p:nvPr/>
          </p:nvCxnSpPr>
          <p:spPr>
            <a:xfrm>
              <a:off x="12278360" y="4347428"/>
              <a:ext cx="0" cy="10464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155BF04F-FBAC-AAA2-AC64-3C6302FA8BDE}"/>
                </a:ext>
              </a:extLst>
            </p:cNvPr>
            <p:cNvCxnSpPr>
              <a:cxnSpLocks/>
              <a:stCxn id="227" idx="1"/>
              <a:endCxn id="227" idx="3"/>
            </p:cNvCxnSpPr>
            <p:nvPr/>
          </p:nvCxnSpPr>
          <p:spPr>
            <a:xfrm>
              <a:off x="11755120" y="4870668"/>
              <a:ext cx="10464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8C064772-9D21-F77A-3F2E-97B9D58DF44D}"/>
                </a:ext>
              </a:extLst>
            </p:cNvPr>
            <p:cNvSpPr txBox="1"/>
            <p:nvPr/>
          </p:nvSpPr>
          <p:spPr>
            <a:xfrm>
              <a:off x="11903923" y="5432936"/>
              <a:ext cx="7537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Mesh</a:t>
              </a:r>
            </a:p>
          </p:txBody>
        </p:sp>
      </p:grp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27B8C7E3-EB81-8FB9-8108-B89B232B89C0}"/>
              </a:ext>
            </a:extLst>
          </p:cNvPr>
          <p:cNvCxnSpPr>
            <a:cxnSpLocks/>
          </p:cNvCxnSpPr>
          <p:nvPr/>
        </p:nvCxnSpPr>
        <p:spPr>
          <a:xfrm flipV="1">
            <a:off x="11843332" y="4159890"/>
            <a:ext cx="320435" cy="37806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TextBox 234">
            <a:extLst>
              <a:ext uri="{FF2B5EF4-FFF2-40B4-BE49-F238E27FC236}">
                <a16:creationId xmlns:a16="http://schemas.microsoft.com/office/drawing/2014/main" id="{5DCBE0DD-90FF-B988-58CD-FEACF6755383}"/>
              </a:ext>
            </a:extLst>
          </p:cNvPr>
          <p:cNvSpPr txBox="1"/>
          <p:nvPr/>
        </p:nvSpPr>
        <p:spPr>
          <a:xfrm>
            <a:off x="9822142" y="4367742"/>
            <a:ext cx="2052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Computation Unit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34EC5A13-47AF-DEEF-4C3C-A78C82D88992}"/>
              </a:ext>
            </a:extLst>
          </p:cNvPr>
          <p:cNvSpPr/>
          <p:nvPr/>
        </p:nvSpPr>
        <p:spPr>
          <a:xfrm>
            <a:off x="12182865" y="3641037"/>
            <a:ext cx="529954" cy="52321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6E8CFB04-D73A-0277-EAAF-1A7C3146367B}"/>
              </a:ext>
            </a:extLst>
          </p:cNvPr>
          <p:cNvGrpSpPr/>
          <p:nvPr/>
        </p:nvGrpSpPr>
        <p:grpSpPr>
          <a:xfrm>
            <a:off x="10927420" y="5999611"/>
            <a:ext cx="3025059" cy="640080"/>
            <a:chOff x="10505278" y="6158443"/>
            <a:chExt cx="3025059" cy="640080"/>
          </a:xfrm>
        </p:grpSpPr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A4CCEB4E-94DB-70C2-CEFB-BA7631AA7D62}"/>
                </a:ext>
              </a:extLst>
            </p:cNvPr>
            <p:cNvSpPr/>
            <p:nvPr/>
          </p:nvSpPr>
          <p:spPr>
            <a:xfrm>
              <a:off x="10505278" y="6158443"/>
              <a:ext cx="783005" cy="6400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Mini</a:t>
              </a:r>
            </a:p>
            <a:p>
              <a:pPr algn="ctr"/>
              <a:r>
                <a:rPr lang="en-US" dirty="0"/>
                <a:t>Batch</a:t>
              </a: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6FE904EF-B65C-825D-EA26-FC284DADB2FE}"/>
                </a:ext>
              </a:extLst>
            </p:cNvPr>
            <p:cNvSpPr/>
            <p:nvPr/>
          </p:nvSpPr>
          <p:spPr>
            <a:xfrm>
              <a:off x="11368170" y="6158443"/>
              <a:ext cx="783005" cy="6400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Mini</a:t>
              </a:r>
            </a:p>
            <a:p>
              <a:pPr algn="ctr"/>
              <a:r>
                <a:rPr lang="en-US" dirty="0"/>
                <a:t>Batch</a:t>
              </a: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CFCE80FE-00E8-522A-44A9-A127265093B1}"/>
                </a:ext>
              </a:extLst>
            </p:cNvPr>
            <p:cNvSpPr/>
            <p:nvPr/>
          </p:nvSpPr>
          <p:spPr>
            <a:xfrm>
              <a:off x="12231062" y="6158443"/>
              <a:ext cx="783005" cy="6400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Mini</a:t>
              </a:r>
            </a:p>
            <a:p>
              <a:pPr algn="ctr"/>
              <a:r>
                <a:rPr lang="en-US" dirty="0"/>
                <a:t>Batch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99DEBB58-BCC9-9123-52BD-10800F36507F}"/>
                </a:ext>
              </a:extLst>
            </p:cNvPr>
            <p:cNvSpPr txBox="1"/>
            <p:nvPr/>
          </p:nvSpPr>
          <p:spPr>
            <a:xfrm>
              <a:off x="13148501" y="6214378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81A243D6-59F9-1412-E72C-C44D887FF9AC}"/>
              </a:ext>
            </a:extLst>
          </p:cNvPr>
          <p:cNvCxnSpPr>
            <a:cxnSpLocks/>
          </p:cNvCxnSpPr>
          <p:nvPr/>
        </p:nvCxnSpPr>
        <p:spPr>
          <a:xfrm flipV="1">
            <a:off x="11053730" y="6750692"/>
            <a:ext cx="152750" cy="19135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TextBox 248">
            <a:extLst>
              <a:ext uri="{FF2B5EF4-FFF2-40B4-BE49-F238E27FC236}">
                <a16:creationId xmlns:a16="http://schemas.microsoft.com/office/drawing/2014/main" id="{649155C7-36C1-4451-5A34-9A048D40A1A7}"/>
              </a:ext>
            </a:extLst>
          </p:cNvPr>
          <p:cNvSpPr txBox="1"/>
          <p:nvPr/>
        </p:nvSpPr>
        <p:spPr>
          <a:xfrm>
            <a:off x="9023003" y="6769052"/>
            <a:ext cx="2052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Computation Unit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1C200484-8C99-3B80-F19E-3CB3BFC2FCFF}"/>
              </a:ext>
            </a:extLst>
          </p:cNvPr>
          <p:cNvSpPr txBox="1"/>
          <p:nvPr/>
        </p:nvSpPr>
        <p:spPr>
          <a:xfrm>
            <a:off x="11956664" y="6716840"/>
            <a:ext cx="1548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Training Data</a:t>
            </a: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0F7AE7F0-CDA7-5B20-1C99-AE327CBAF0FD}"/>
              </a:ext>
            </a:extLst>
          </p:cNvPr>
          <p:cNvSpPr/>
          <p:nvPr/>
        </p:nvSpPr>
        <p:spPr>
          <a:xfrm>
            <a:off x="10910856" y="6009343"/>
            <a:ext cx="799755" cy="66383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4EEF6-00E2-A243-C873-0D10F0E5B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6" name="TextBox 10375">
            <a:extLst>
              <a:ext uri="{FF2B5EF4-FFF2-40B4-BE49-F238E27FC236}">
                <a16:creationId xmlns:a16="http://schemas.microsoft.com/office/drawing/2014/main" id="{F042DC23-2085-621B-0EE7-15346E19C14D}"/>
              </a:ext>
            </a:extLst>
          </p:cNvPr>
          <p:cNvSpPr txBox="1"/>
          <p:nvPr/>
        </p:nvSpPr>
        <p:spPr>
          <a:xfrm>
            <a:off x="3003318" y="2688493"/>
            <a:ext cx="2836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</a:rPr>
              <a:t>Checkpoint Epoch</a:t>
            </a:r>
          </a:p>
        </p:txBody>
      </p:sp>
      <p:sp>
        <p:nvSpPr>
          <p:cNvPr id="10297" name="TextBox 10296">
            <a:extLst>
              <a:ext uri="{FF2B5EF4-FFF2-40B4-BE49-F238E27FC236}">
                <a16:creationId xmlns:a16="http://schemas.microsoft.com/office/drawing/2014/main" id="{62788047-CC55-4435-0378-962E76016AEB}"/>
              </a:ext>
            </a:extLst>
          </p:cNvPr>
          <p:cNvSpPr txBox="1"/>
          <p:nvPr/>
        </p:nvSpPr>
        <p:spPr>
          <a:xfrm rot="16200000">
            <a:off x="-368058" y="4219564"/>
            <a:ext cx="1606559" cy="352083"/>
          </a:xfrm>
          <a:prstGeom prst="rect">
            <a:avLst/>
          </a:prstGeom>
          <a:solidFill>
            <a:sysClr val="window" lastClr="FFFFFF">
              <a:alpha val="84235"/>
            </a:sys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88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Wallclock Time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73C9DA-7004-7D1E-ACFE-5D6096AC5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BSP Execution and Challenges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E5AAE-75F3-3716-07D9-7534FC875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http://www.pdl.cmu.edu/</a:t>
            </a:r>
            <a:endParaRPr lang="en-US" altLang="en-US" sz="2300">
              <a:latin typeface="Times New Roman" pitchFamily="18" charset="0"/>
            </a:endParaRPr>
          </a:p>
        </p:txBody>
      </p:sp>
      <p:sp>
        <p:nvSpPr>
          <p:cNvPr id="10409" name="TextBox 10408">
            <a:extLst>
              <a:ext uri="{FF2B5EF4-FFF2-40B4-BE49-F238E27FC236}">
                <a16:creationId xmlns:a16="http://schemas.microsoft.com/office/drawing/2014/main" id="{AAFF1C33-32CE-6A65-0F30-2EB233FC01DB}"/>
              </a:ext>
            </a:extLst>
          </p:cNvPr>
          <p:cNvSpPr txBox="1"/>
          <p:nvPr/>
        </p:nvSpPr>
        <p:spPr>
          <a:xfrm>
            <a:off x="2450207" y="1351996"/>
            <a:ext cx="1453511" cy="661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75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…</a:t>
            </a:r>
          </a:p>
        </p:txBody>
      </p:sp>
      <p:cxnSp>
        <p:nvCxnSpPr>
          <p:cNvPr id="10418" name="Straight Arrow Connector 10417">
            <a:extLst>
              <a:ext uri="{FF2B5EF4-FFF2-40B4-BE49-F238E27FC236}">
                <a16:creationId xmlns:a16="http://schemas.microsoft.com/office/drawing/2014/main" id="{8C79A7E8-CFC5-C5D4-7A15-2E07BEAF6CBD}"/>
              </a:ext>
            </a:extLst>
          </p:cNvPr>
          <p:cNvCxnSpPr>
            <a:cxnSpLocks/>
          </p:cNvCxnSpPr>
          <p:nvPr/>
        </p:nvCxnSpPr>
        <p:spPr>
          <a:xfrm>
            <a:off x="2966036" y="2090007"/>
            <a:ext cx="0" cy="469298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>
                <a:alpha val="20488"/>
              </a:sysClr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419" name="Straight Arrow Connector 10418">
            <a:extLst>
              <a:ext uri="{FF2B5EF4-FFF2-40B4-BE49-F238E27FC236}">
                <a16:creationId xmlns:a16="http://schemas.microsoft.com/office/drawing/2014/main" id="{BDEDD621-83A5-37EF-2627-20D2607915D3}"/>
              </a:ext>
            </a:extLst>
          </p:cNvPr>
          <p:cNvCxnSpPr>
            <a:cxnSpLocks/>
          </p:cNvCxnSpPr>
          <p:nvPr/>
        </p:nvCxnSpPr>
        <p:spPr>
          <a:xfrm>
            <a:off x="1884605" y="2122252"/>
            <a:ext cx="0" cy="4718137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>
                <a:alpha val="20488"/>
              </a:sysClr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296" name="Straight Arrow Connector 10295">
            <a:extLst>
              <a:ext uri="{FF2B5EF4-FFF2-40B4-BE49-F238E27FC236}">
                <a16:creationId xmlns:a16="http://schemas.microsoft.com/office/drawing/2014/main" id="{3E19FF87-972C-A260-BEBC-170F38DE3DB0}"/>
              </a:ext>
            </a:extLst>
          </p:cNvPr>
          <p:cNvCxnSpPr>
            <a:cxnSpLocks/>
          </p:cNvCxnSpPr>
          <p:nvPr/>
        </p:nvCxnSpPr>
        <p:spPr>
          <a:xfrm>
            <a:off x="607221" y="2104165"/>
            <a:ext cx="0" cy="5157997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CC40C744-1CE1-0483-283C-C208BD99B8EB}"/>
              </a:ext>
            </a:extLst>
          </p:cNvPr>
          <p:cNvSpPr txBox="1"/>
          <p:nvPr/>
        </p:nvSpPr>
        <p:spPr>
          <a:xfrm>
            <a:off x="607221" y="6047206"/>
            <a:ext cx="1926543" cy="380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88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</a:rPr>
              <a:t>Global Sync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97E52FE-8326-39AB-0AB9-803F48BE553F}"/>
              </a:ext>
            </a:extLst>
          </p:cNvPr>
          <p:cNvGrpSpPr/>
          <p:nvPr/>
        </p:nvGrpSpPr>
        <p:grpSpPr>
          <a:xfrm>
            <a:off x="226916" y="1373832"/>
            <a:ext cx="2100881" cy="1352583"/>
            <a:chOff x="392517" y="1455593"/>
            <a:chExt cx="2100881" cy="1352583"/>
          </a:xfrm>
        </p:grpSpPr>
        <p:sp>
          <p:nvSpPr>
            <p:cNvPr id="10460" name="TextBox 10459">
              <a:extLst>
                <a:ext uri="{FF2B5EF4-FFF2-40B4-BE49-F238E27FC236}">
                  <a16:creationId xmlns:a16="http://schemas.microsoft.com/office/drawing/2014/main" id="{7F980A51-C70B-3662-FBE4-3B672D78CF04}"/>
                </a:ext>
              </a:extLst>
            </p:cNvPr>
            <p:cNvSpPr txBox="1"/>
            <p:nvPr/>
          </p:nvSpPr>
          <p:spPr>
            <a:xfrm>
              <a:off x="392517" y="2196342"/>
              <a:ext cx="2100881" cy="611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88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rPr>
                <a:t>Worker 0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88" i="1" kern="0" dirty="0">
                  <a:solidFill>
                    <a:prstClr val="black"/>
                  </a:solidFill>
                  <a:latin typeface="Aptos" panose="02110004020202020204"/>
                </a:rPr>
                <a:t>(Rank 0)</a:t>
              </a:r>
              <a:endParaRPr kumimoji="0" lang="en-US" sz="1688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86A213F-6B43-CF47-4D7B-E32CB7641148}"/>
                </a:ext>
              </a:extLst>
            </p:cNvPr>
            <p:cNvGrpSpPr/>
            <p:nvPr/>
          </p:nvGrpSpPr>
          <p:grpSpPr>
            <a:xfrm>
              <a:off x="1106559" y="1455593"/>
              <a:ext cx="731520" cy="731520"/>
              <a:chOff x="10363834" y="2755229"/>
              <a:chExt cx="731520" cy="73152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AF8D98E-BA50-1AF2-F658-B3E6F688993C}"/>
                  </a:ext>
                </a:extLst>
              </p:cNvPr>
              <p:cNvSpPr/>
              <p:nvPr/>
            </p:nvSpPr>
            <p:spPr>
              <a:xfrm>
                <a:off x="10363834" y="2755229"/>
                <a:ext cx="731520" cy="7315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41A0DAA-7434-7AA9-B6FA-2C24539780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500994" y="2892389"/>
                <a:ext cx="457200" cy="457200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</p:grpSp>
      </p:grpSp>
      <p:sp>
        <p:nvSpPr>
          <p:cNvPr id="18" name="Date Placeholder 7">
            <a:extLst>
              <a:ext uri="{FF2B5EF4-FFF2-40B4-BE49-F238E27FC236}">
                <a16:creationId xmlns:a16="http://schemas.microsoft.com/office/drawing/2014/main" id="{05DA934B-DA9F-C008-2133-FB2578F76CCC}"/>
              </a:ext>
            </a:extLst>
          </p:cNvPr>
          <p:cNvSpPr txBox="1">
            <a:spLocks/>
          </p:cNvSpPr>
          <p:nvPr/>
        </p:nvSpPr>
        <p:spPr>
          <a:xfrm>
            <a:off x="10721637" y="780276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FC379B-189E-DE20-6168-825C2851B756}"/>
              </a:ext>
            </a:extLst>
          </p:cNvPr>
          <p:cNvSpPr/>
          <p:nvPr/>
        </p:nvSpPr>
        <p:spPr>
          <a:xfrm>
            <a:off x="914400" y="2740265"/>
            <a:ext cx="758078" cy="539166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1F236AE-8E1F-979B-08DA-AB61E7164B03}"/>
              </a:ext>
            </a:extLst>
          </p:cNvPr>
          <p:cNvCxnSpPr>
            <a:cxnSpLocks/>
          </p:cNvCxnSpPr>
          <p:nvPr/>
        </p:nvCxnSpPr>
        <p:spPr>
          <a:xfrm>
            <a:off x="607221" y="2725228"/>
            <a:ext cx="3354790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F5224BAD-482D-6E27-A3A7-B743A7041F17}"/>
              </a:ext>
            </a:extLst>
          </p:cNvPr>
          <p:cNvGrpSpPr/>
          <p:nvPr/>
        </p:nvGrpSpPr>
        <p:grpSpPr>
          <a:xfrm>
            <a:off x="603180" y="3277791"/>
            <a:ext cx="5077400" cy="352084"/>
            <a:chOff x="2739840" y="3621575"/>
            <a:chExt cx="5077400" cy="35208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0AFAB48-C569-4C2F-F25E-870E5754C531}"/>
                </a:ext>
              </a:extLst>
            </p:cNvPr>
            <p:cNvGrpSpPr/>
            <p:nvPr/>
          </p:nvGrpSpPr>
          <p:grpSpPr>
            <a:xfrm>
              <a:off x="6377498" y="3621575"/>
              <a:ext cx="1439742" cy="352084"/>
              <a:chOff x="11011821" y="5691691"/>
              <a:chExt cx="1439742" cy="352084"/>
            </a:xfrm>
          </p:grpSpPr>
          <p:sp>
            <p:nvSpPr>
              <p:cNvPr id="10299" name="Rectangle 10298">
                <a:extLst>
                  <a:ext uri="{FF2B5EF4-FFF2-40B4-BE49-F238E27FC236}">
                    <a16:creationId xmlns:a16="http://schemas.microsoft.com/office/drawing/2014/main" id="{7BA0A6BF-65EE-5A5E-A8D6-5F8715BD0529}"/>
                  </a:ext>
                </a:extLst>
              </p:cNvPr>
              <p:cNvSpPr/>
              <p:nvPr/>
            </p:nvSpPr>
            <p:spPr>
              <a:xfrm>
                <a:off x="11011821" y="5700031"/>
                <a:ext cx="1439742" cy="332021"/>
              </a:xfrm>
              <a:prstGeom prst="rect">
                <a:avLst/>
              </a:prstGeom>
              <a:solidFill>
                <a:srgbClr val="B64000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88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0300" name="TextBox 10299">
                <a:extLst>
                  <a:ext uri="{FF2B5EF4-FFF2-40B4-BE49-F238E27FC236}">
                    <a16:creationId xmlns:a16="http://schemas.microsoft.com/office/drawing/2014/main" id="{0F40B9A8-EE54-4558-F596-AFA276A1D766}"/>
                  </a:ext>
                </a:extLst>
              </p:cNvPr>
              <p:cNvSpPr txBox="1"/>
              <p:nvPr/>
            </p:nvSpPr>
            <p:spPr>
              <a:xfrm>
                <a:off x="11061074" y="5691691"/>
                <a:ext cx="1306483" cy="352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88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</a:rPr>
                  <a:t>Global Sync</a:t>
                </a:r>
              </a:p>
            </p:txBody>
          </p:sp>
        </p:grpSp>
        <p:cxnSp>
          <p:nvCxnSpPr>
            <p:cNvPr id="10298" name="Straight Arrow Connector 10297">
              <a:extLst>
                <a:ext uri="{FF2B5EF4-FFF2-40B4-BE49-F238E27FC236}">
                  <a16:creationId xmlns:a16="http://schemas.microsoft.com/office/drawing/2014/main" id="{0DE4C0F8-F28E-03C0-FBED-6C3EB5307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9840" y="3657600"/>
              <a:ext cx="3657600" cy="0"/>
            </a:xfrm>
            <a:prstGeom prst="straightConnector1">
              <a:avLst/>
            </a:prstGeom>
            <a:noFill/>
            <a:ln w="57150" cap="flat" cmpd="sng" algn="ctr">
              <a:solidFill>
                <a:srgbClr val="B64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ED670AC3-9C0F-CD01-22D3-AE50BC2D6441}"/>
              </a:ext>
            </a:extLst>
          </p:cNvPr>
          <p:cNvSpPr txBox="1"/>
          <p:nvPr/>
        </p:nvSpPr>
        <p:spPr>
          <a:xfrm rot="5400000">
            <a:off x="1086946" y="4834208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4867F6F-2A21-AB35-3BA5-CEC1D74DA8BD}"/>
              </a:ext>
            </a:extLst>
          </p:cNvPr>
          <p:cNvSpPr/>
          <p:nvPr/>
        </p:nvSpPr>
        <p:spPr>
          <a:xfrm>
            <a:off x="2026223" y="3345037"/>
            <a:ext cx="758078" cy="673909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7863C19-1D22-D913-AD63-2C901C27ABD2}"/>
              </a:ext>
            </a:extLst>
          </p:cNvPr>
          <p:cNvGrpSpPr/>
          <p:nvPr/>
        </p:nvGrpSpPr>
        <p:grpSpPr>
          <a:xfrm>
            <a:off x="1368559" y="1372645"/>
            <a:ext cx="2100881" cy="1352583"/>
            <a:chOff x="1985957" y="1454916"/>
            <a:chExt cx="2100881" cy="135258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9D63D20-82CF-69BF-98AE-155F6900DA59}"/>
                </a:ext>
              </a:extLst>
            </p:cNvPr>
            <p:cNvSpPr txBox="1"/>
            <p:nvPr/>
          </p:nvSpPr>
          <p:spPr>
            <a:xfrm>
              <a:off x="1985957" y="2195665"/>
              <a:ext cx="2100881" cy="611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88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rPr>
                <a:t>Worker 1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88" i="1" kern="0" dirty="0">
                  <a:solidFill>
                    <a:prstClr val="black"/>
                  </a:solidFill>
                  <a:latin typeface="Aptos" panose="02110004020202020204"/>
                </a:rPr>
                <a:t>(Rank 1)</a:t>
              </a:r>
              <a:endParaRPr kumimoji="0" lang="en-US" sz="1688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1C05C52-EB89-A690-4597-CE7A4352322A}"/>
                </a:ext>
              </a:extLst>
            </p:cNvPr>
            <p:cNvGrpSpPr/>
            <p:nvPr/>
          </p:nvGrpSpPr>
          <p:grpSpPr>
            <a:xfrm>
              <a:off x="2687642" y="1454916"/>
              <a:ext cx="731520" cy="731520"/>
              <a:chOff x="10302049" y="2755229"/>
              <a:chExt cx="731520" cy="73152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D773DEE-1BDA-F18C-F0E6-DE209F3DB8E2}"/>
                  </a:ext>
                </a:extLst>
              </p:cNvPr>
              <p:cNvSpPr/>
              <p:nvPr/>
            </p:nvSpPr>
            <p:spPr>
              <a:xfrm>
                <a:off x="10302049" y="2755229"/>
                <a:ext cx="731520" cy="7315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5EC6893-1C27-576D-C160-D7CBA3A5C1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439209" y="2892389"/>
                <a:ext cx="457200" cy="457200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</p:grp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7AD56008-F0F6-0213-0D8C-B79402A2F307}"/>
              </a:ext>
            </a:extLst>
          </p:cNvPr>
          <p:cNvSpPr/>
          <p:nvPr/>
        </p:nvSpPr>
        <p:spPr>
          <a:xfrm>
            <a:off x="2033924" y="2746433"/>
            <a:ext cx="758078" cy="539166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D6D2E8-51A1-A2CF-2374-0EB3D4A1410F}"/>
              </a:ext>
            </a:extLst>
          </p:cNvPr>
          <p:cNvSpPr txBox="1"/>
          <p:nvPr/>
        </p:nvSpPr>
        <p:spPr>
          <a:xfrm rot="5400000">
            <a:off x="2177180" y="4834208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8191340-38C5-9FCE-41E3-72AA5755EEA2}"/>
              </a:ext>
            </a:extLst>
          </p:cNvPr>
          <p:cNvSpPr/>
          <p:nvPr/>
        </p:nvSpPr>
        <p:spPr>
          <a:xfrm>
            <a:off x="615537" y="5261645"/>
            <a:ext cx="2350497" cy="46659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Checkpoint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865788-508B-3F63-F9E0-4ED67672B48B}"/>
              </a:ext>
            </a:extLst>
          </p:cNvPr>
          <p:cNvSpPr txBox="1"/>
          <p:nvPr/>
        </p:nvSpPr>
        <p:spPr>
          <a:xfrm>
            <a:off x="3503000" y="1355269"/>
            <a:ext cx="30193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O(10k) ranks</a:t>
            </a:r>
          </a:p>
          <a:p>
            <a:r>
              <a:rPr lang="en-US" sz="2400" i="1" dirty="0"/>
              <a:t>Long-running (weeks)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5583BE1-0F2A-1E88-EACC-28B269FB18AA}"/>
              </a:ext>
            </a:extLst>
          </p:cNvPr>
          <p:cNvCxnSpPr>
            <a:cxnSpLocks/>
          </p:cNvCxnSpPr>
          <p:nvPr/>
        </p:nvCxnSpPr>
        <p:spPr>
          <a:xfrm>
            <a:off x="2967833" y="5462731"/>
            <a:ext cx="1943058" cy="0"/>
          </a:xfrm>
          <a:prstGeom prst="straightConnector1">
            <a:avLst/>
          </a:prstGeom>
          <a:ln w="317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C57495AD-B4D2-2B2B-CAC9-3F2A7499C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761" y="5285206"/>
            <a:ext cx="620338" cy="352084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FF725A84-91BD-E35C-2E3F-613D0D033D59}"/>
              </a:ext>
            </a:extLst>
          </p:cNvPr>
          <p:cNvSpPr txBox="1"/>
          <p:nvPr/>
        </p:nvSpPr>
        <p:spPr>
          <a:xfrm>
            <a:off x="2966034" y="5133951"/>
            <a:ext cx="1903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to shared storage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BBE553A-54C6-2737-FB48-6DA25C8B2F12}"/>
              </a:ext>
            </a:extLst>
          </p:cNvPr>
          <p:cNvGrpSpPr/>
          <p:nvPr/>
        </p:nvGrpSpPr>
        <p:grpSpPr>
          <a:xfrm>
            <a:off x="607254" y="4018947"/>
            <a:ext cx="5077400" cy="352084"/>
            <a:chOff x="2739840" y="3621575"/>
            <a:chExt cx="5077400" cy="352084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2A8230F6-164C-B9DE-DBEF-296C437D83C1}"/>
                </a:ext>
              </a:extLst>
            </p:cNvPr>
            <p:cNvGrpSpPr/>
            <p:nvPr/>
          </p:nvGrpSpPr>
          <p:grpSpPr>
            <a:xfrm>
              <a:off x="6377498" y="3621575"/>
              <a:ext cx="1439742" cy="352084"/>
              <a:chOff x="11011821" y="5691691"/>
              <a:chExt cx="1439742" cy="352084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8D3425F2-CF8C-A0F9-3D7F-4C64D695F0FB}"/>
                  </a:ext>
                </a:extLst>
              </p:cNvPr>
              <p:cNvSpPr/>
              <p:nvPr/>
            </p:nvSpPr>
            <p:spPr>
              <a:xfrm>
                <a:off x="11011821" y="5700031"/>
                <a:ext cx="1439742" cy="332021"/>
              </a:xfrm>
              <a:prstGeom prst="rect">
                <a:avLst/>
              </a:prstGeom>
              <a:solidFill>
                <a:srgbClr val="B64000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88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7F660784-152C-C64D-ED0F-CAC3976C034D}"/>
                  </a:ext>
                </a:extLst>
              </p:cNvPr>
              <p:cNvSpPr txBox="1"/>
              <p:nvPr/>
            </p:nvSpPr>
            <p:spPr>
              <a:xfrm>
                <a:off x="11061074" y="5691691"/>
                <a:ext cx="1306483" cy="352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88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</a:rPr>
                  <a:t>Global Sync</a:t>
                </a:r>
              </a:p>
            </p:txBody>
          </p:sp>
        </p:grp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55418C75-F151-FD43-71A4-E7BD74062C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9840" y="3657600"/>
              <a:ext cx="3657600" cy="0"/>
            </a:xfrm>
            <a:prstGeom prst="straightConnector1">
              <a:avLst/>
            </a:prstGeom>
            <a:noFill/>
            <a:ln w="57150" cap="flat" cmpd="sng" algn="ctr">
              <a:solidFill>
                <a:srgbClr val="B64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2F06171-35A6-C490-97ED-7F9E95B36C25}"/>
              </a:ext>
            </a:extLst>
          </p:cNvPr>
          <p:cNvGrpSpPr/>
          <p:nvPr/>
        </p:nvGrpSpPr>
        <p:grpSpPr>
          <a:xfrm>
            <a:off x="611226" y="4759681"/>
            <a:ext cx="5077400" cy="352084"/>
            <a:chOff x="2739840" y="3621575"/>
            <a:chExt cx="5077400" cy="352084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6E817A74-1949-2DB1-2159-C0230534E919}"/>
                </a:ext>
              </a:extLst>
            </p:cNvPr>
            <p:cNvGrpSpPr/>
            <p:nvPr/>
          </p:nvGrpSpPr>
          <p:grpSpPr>
            <a:xfrm>
              <a:off x="6377498" y="3621575"/>
              <a:ext cx="1439742" cy="352084"/>
              <a:chOff x="11011821" y="5691691"/>
              <a:chExt cx="1439742" cy="352084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DF14892E-4447-0057-7700-B64EF2B1BA6D}"/>
                  </a:ext>
                </a:extLst>
              </p:cNvPr>
              <p:cNvSpPr/>
              <p:nvPr/>
            </p:nvSpPr>
            <p:spPr>
              <a:xfrm>
                <a:off x="11011821" y="5700031"/>
                <a:ext cx="1439742" cy="332021"/>
              </a:xfrm>
              <a:prstGeom prst="rect">
                <a:avLst/>
              </a:prstGeom>
              <a:solidFill>
                <a:srgbClr val="B64000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88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C3E25CEB-B686-A69D-0A7C-085AD4649F60}"/>
                  </a:ext>
                </a:extLst>
              </p:cNvPr>
              <p:cNvSpPr txBox="1"/>
              <p:nvPr/>
            </p:nvSpPr>
            <p:spPr>
              <a:xfrm>
                <a:off x="11061074" y="5691691"/>
                <a:ext cx="1306483" cy="352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88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</a:rPr>
                  <a:t>Global Sync</a:t>
                </a:r>
              </a:p>
            </p:txBody>
          </p:sp>
        </p:grp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9339AD12-2FFD-2905-B077-3464A09831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9840" y="3657600"/>
              <a:ext cx="3657600" cy="0"/>
            </a:xfrm>
            <a:prstGeom prst="straightConnector1">
              <a:avLst/>
            </a:prstGeom>
            <a:noFill/>
            <a:ln w="57150" cap="flat" cmpd="sng" algn="ctr">
              <a:solidFill>
                <a:srgbClr val="B64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5A160E90-7AE4-E1E6-E65E-B9847D5A7FA3}"/>
              </a:ext>
            </a:extLst>
          </p:cNvPr>
          <p:cNvGrpSpPr/>
          <p:nvPr/>
        </p:nvGrpSpPr>
        <p:grpSpPr>
          <a:xfrm>
            <a:off x="615537" y="5695350"/>
            <a:ext cx="5077400" cy="352084"/>
            <a:chOff x="2739840" y="3621575"/>
            <a:chExt cx="5077400" cy="352084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14C2B68A-B116-6346-84EE-15FB76B1ED47}"/>
                </a:ext>
              </a:extLst>
            </p:cNvPr>
            <p:cNvGrpSpPr/>
            <p:nvPr/>
          </p:nvGrpSpPr>
          <p:grpSpPr>
            <a:xfrm>
              <a:off x="6377498" y="3621575"/>
              <a:ext cx="1439742" cy="352084"/>
              <a:chOff x="11011821" y="5691691"/>
              <a:chExt cx="1439742" cy="352084"/>
            </a:xfrm>
          </p:grpSpPr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AB82A13D-8971-D9B4-B83B-267EF8A9A2D4}"/>
                  </a:ext>
                </a:extLst>
              </p:cNvPr>
              <p:cNvSpPr/>
              <p:nvPr/>
            </p:nvSpPr>
            <p:spPr>
              <a:xfrm>
                <a:off x="11011821" y="5700031"/>
                <a:ext cx="1439742" cy="332021"/>
              </a:xfrm>
              <a:prstGeom prst="rect">
                <a:avLst/>
              </a:prstGeom>
              <a:solidFill>
                <a:srgbClr val="B64000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88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59DE7CC-F99E-A704-88CC-55F3B3677E48}"/>
                  </a:ext>
                </a:extLst>
              </p:cNvPr>
              <p:cNvSpPr txBox="1"/>
              <p:nvPr/>
            </p:nvSpPr>
            <p:spPr>
              <a:xfrm>
                <a:off x="11061074" y="5691691"/>
                <a:ext cx="1306483" cy="352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88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</a:rPr>
                  <a:t>Global Sync</a:t>
                </a:r>
              </a:p>
            </p:txBody>
          </p:sp>
        </p:grp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7E4070B1-57C1-8D93-CDF5-CCEACA1C84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9840" y="3657600"/>
              <a:ext cx="3657600" cy="0"/>
            </a:xfrm>
            <a:prstGeom prst="straightConnector1">
              <a:avLst/>
            </a:prstGeom>
            <a:noFill/>
            <a:ln w="57150" cap="flat" cmpd="sng" algn="ctr">
              <a:solidFill>
                <a:srgbClr val="B64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4AB1BE7-B1B2-3450-4265-233D92F3AE0A}"/>
              </a:ext>
            </a:extLst>
          </p:cNvPr>
          <p:cNvSpPr/>
          <p:nvPr/>
        </p:nvSpPr>
        <p:spPr>
          <a:xfrm>
            <a:off x="888631" y="5755921"/>
            <a:ext cx="758078" cy="539166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619FB5E-0907-8756-9959-A8DE818A401A}"/>
              </a:ext>
            </a:extLst>
          </p:cNvPr>
          <p:cNvSpPr/>
          <p:nvPr/>
        </p:nvSpPr>
        <p:spPr>
          <a:xfrm>
            <a:off x="2021613" y="5755921"/>
            <a:ext cx="758078" cy="539166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A2B2C6B-1724-4FFB-6041-D3AB799F1AC7}"/>
              </a:ext>
            </a:extLst>
          </p:cNvPr>
          <p:cNvSpPr txBox="1"/>
          <p:nvPr/>
        </p:nvSpPr>
        <p:spPr>
          <a:xfrm rot="5400000">
            <a:off x="2213270" y="6445215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357A414-D4D7-9549-837E-B328755A28F3}"/>
              </a:ext>
            </a:extLst>
          </p:cNvPr>
          <p:cNvSpPr txBox="1"/>
          <p:nvPr/>
        </p:nvSpPr>
        <p:spPr>
          <a:xfrm rot="5400000">
            <a:off x="1105468" y="643668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</a:p>
        </p:txBody>
      </p:sp>
      <p:cxnSp>
        <p:nvCxnSpPr>
          <p:cNvPr id="10369" name="Straight Arrow Connector 10368">
            <a:extLst>
              <a:ext uri="{FF2B5EF4-FFF2-40B4-BE49-F238E27FC236}">
                <a16:creationId xmlns:a16="http://schemas.microsoft.com/office/drawing/2014/main" id="{770720CE-37F1-0CF7-5EA8-ECA6C65EA331}"/>
              </a:ext>
            </a:extLst>
          </p:cNvPr>
          <p:cNvCxnSpPr>
            <a:cxnSpLocks/>
          </p:cNvCxnSpPr>
          <p:nvPr/>
        </p:nvCxnSpPr>
        <p:spPr>
          <a:xfrm>
            <a:off x="4025711" y="3326598"/>
            <a:ext cx="0" cy="700689"/>
          </a:xfrm>
          <a:prstGeom prst="straightConnector1">
            <a:avLst/>
          </a:prstGeom>
          <a:ln w="4445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0" name="TextBox 10369">
            <a:extLst>
              <a:ext uri="{FF2B5EF4-FFF2-40B4-BE49-F238E27FC236}">
                <a16:creationId xmlns:a16="http://schemas.microsoft.com/office/drawing/2014/main" id="{392074DE-9A1B-F8E1-E8B7-25B5B4F8B7EA}"/>
              </a:ext>
            </a:extLst>
          </p:cNvPr>
          <p:cNvSpPr txBox="1"/>
          <p:nvPr/>
        </p:nvSpPr>
        <p:spPr>
          <a:xfrm>
            <a:off x="4259593" y="3554529"/>
            <a:ext cx="1483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</a:rPr>
              <a:t>Timestep</a:t>
            </a:r>
          </a:p>
        </p:txBody>
      </p:sp>
      <p:cxnSp>
        <p:nvCxnSpPr>
          <p:cNvPr id="10374" name="Straight Arrow Connector 10373">
            <a:extLst>
              <a:ext uri="{FF2B5EF4-FFF2-40B4-BE49-F238E27FC236}">
                <a16:creationId xmlns:a16="http://schemas.microsoft.com/office/drawing/2014/main" id="{E5D9FD6F-7004-EBCD-AFD0-1EBC985CAAEB}"/>
              </a:ext>
            </a:extLst>
          </p:cNvPr>
          <p:cNvCxnSpPr>
            <a:cxnSpLocks/>
          </p:cNvCxnSpPr>
          <p:nvPr/>
        </p:nvCxnSpPr>
        <p:spPr>
          <a:xfrm>
            <a:off x="2966034" y="2727604"/>
            <a:ext cx="0" cy="3000632"/>
          </a:xfrm>
          <a:prstGeom prst="straightConnector1">
            <a:avLst/>
          </a:prstGeom>
          <a:ln w="4445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8" name="Rectangle 10377">
            <a:extLst>
              <a:ext uri="{FF2B5EF4-FFF2-40B4-BE49-F238E27FC236}">
                <a16:creationId xmlns:a16="http://schemas.microsoft.com/office/drawing/2014/main" id="{DB58775E-D0C6-F07D-03E8-64C446DDE86E}"/>
              </a:ext>
            </a:extLst>
          </p:cNvPr>
          <p:cNvSpPr/>
          <p:nvPr/>
        </p:nvSpPr>
        <p:spPr>
          <a:xfrm>
            <a:off x="2025724" y="4089124"/>
            <a:ext cx="758078" cy="673909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</a:t>
            </a:r>
          </a:p>
        </p:txBody>
      </p:sp>
      <p:sp>
        <p:nvSpPr>
          <p:cNvPr id="10379" name="Rectangle 10378">
            <a:extLst>
              <a:ext uri="{FF2B5EF4-FFF2-40B4-BE49-F238E27FC236}">
                <a16:creationId xmlns:a16="http://schemas.microsoft.com/office/drawing/2014/main" id="{EE00E7F5-B3A8-01D9-9CE0-18E9055F5312}"/>
              </a:ext>
            </a:extLst>
          </p:cNvPr>
          <p:cNvSpPr/>
          <p:nvPr/>
        </p:nvSpPr>
        <p:spPr>
          <a:xfrm>
            <a:off x="908560" y="3345925"/>
            <a:ext cx="758078" cy="673909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</a:t>
            </a:r>
          </a:p>
        </p:txBody>
      </p:sp>
      <p:sp>
        <p:nvSpPr>
          <p:cNvPr id="10380" name="Rectangle 10379">
            <a:extLst>
              <a:ext uri="{FF2B5EF4-FFF2-40B4-BE49-F238E27FC236}">
                <a16:creationId xmlns:a16="http://schemas.microsoft.com/office/drawing/2014/main" id="{3D883DA1-30DF-CCEA-3623-558B061D374B}"/>
              </a:ext>
            </a:extLst>
          </p:cNvPr>
          <p:cNvSpPr/>
          <p:nvPr/>
        </p:nvSpPr>
        <p:spPr>
          <a:xfrm>
            <a:off x="908061" y="4090012"/>
            <a:ext cx="758078" cy="673909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</a:t>
            </a:r>
          </a:p>
        </p:txBody>
      </p:sp>
      <p:sp>
        <p:nvSpPr>
          <p:cNvPr id="10382" name="TextBox 10381">
            <a:extLst>
              <a:ext uri="{FF2B5EF4-FFF2-40B4-BE49-F238E27FC236}">
                <a16:creationId xmlns:a16="http://schemas.microsoft.com/office/drawing/2014/main" id="{A84D3D2A-1662-A6ED-F246-77648FC50CAB}"/>
              </a:ext>
            </a:extLst>
          </p:cNvPr>
          <p:cNvSpPr txBox="1"/>
          <p:nvPr/>
        </p:nvSpPr>
        <p:spPr>
          <a:xfrm>
            <a:off x="6684334" y="1622294"/>
            <a:ext cx="781066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Data Management Challenges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Ingesting and analyzing checkpoints for insight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i="1" dirty="0"/>
              <a:t>(Not typically not analyzed in ML)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/>
              <a:t>In-situ analytics</a:t>
            </a:r>
            <a:r>
              <a:rPr lang="en-US" sz="2800" dirty="0"/>
              <a:t> an active research area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In-situ visualization for live feedback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In-situ indexing to speed up queries</a:t>
            </a:r>
          </a:p>
        </p:txBody>
      </p:sp>
      <p:sp>
        <p:nvSpPr>
          <p:cNvPr id="10383" name="TextBox 10382">
            <a:extLst>
              <a:ext uri="{FF2B5EF4-FFF2-40B4-BE49-F238E27FC236}">
                <a16:creationId xmlns:a16="http://schemas.microsoft.com/office/drawing/2014/main" id="{E04B00E6-6D95-C703-E894-A76E722FCF2D}"/>
              </a:ext>
            </a:extLst>
          </p:cNvPr>
          <p:cNvSpPr txBox="1"/>
          <p:nvPr/>
        </p:nvSpPr>
        <p:spPr>
          <a:xfrm>
            <a:off x="6560556" y="4694207"/>
            <a:ext cx="794082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Compute Efficiency Challenges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One straggler can derail all workers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Load imbalance/variability extremely expensive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Understanding bottlenecks is hard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Telemetry ~ data management challenge</a:t>
            </a:r>
          </a:p>
        </p:txBody>
      </p:sp>
      <p:sp>
        <p:nvSpPr>
          <p:cNvPr id="10384" name="Slide Number Placeholder 9">
            <a:extLst>
              <a:ext uri="{FF2B5EF4-FFF2-40B4-BE49-F238E27FC236}">
                <a16:creationId xmlns:a16="http://schemas.microsoft.com/office/drawing/2014/main" id="{AC7078C1-6C84-53A8-3E93-6A4714D20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1179" y="7791186"/>
            <a:ext cx="3291840" cy="438150"/>
          </a:xfrm>
        </p:spPr>
        <p:txBody>
          <a:bodyPr/>
          <a:lstStyle/>
          <a:p>
            <a:fld id="{63C28F8B-7678-F54D-B752-F6E8A9D5F20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658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3697A56-470C-369E-FB42-A82339C9A848}"/>
              </a:ext>
            </a:extLst>
          </p:cNvPr>
          <p:cNvSpPr/>
          <p:nvPr/>
        </p:nvSpPr>
        <p:spPr>
          <a:xfrm rot="20976334">
            <a:off x="310085" y="4094946"/>
            <a:ext cx="1688049" cy="3744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CLUSTER ’25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494DD6-9577-CEE4-00C7-89944AA6E847}"/>
              </a:ext>
            </a:extLst>
          </p:cNvPr>
          <p:cNvSpPr/>
          <p:nvPr/>
        </p:nvSpPr>
        <p:spPr>
          <a:xfrm rot="20978982">
            <a:off x="409818" y="1202746"/>
            <a:ext cx="975295" cy="39543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SC ‘24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57825"/>
            <a:ext cx="13716001" cy="1590676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Initial Work: Systems for Compute and Data Paths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C788C-DEF4-0306-89DC-42731C122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569793"/>
            <a:ext cx="12801600" cy="2669045"/>
          </a:xfrm>
        </p:spPr>
        <p:txBody>
          <a:bodyPr>
            <a:normAutofit lnSpcReduction="10000"/>
          </a:bodyPr>
          <a:lstStyle/>
          <a:p>
            <a:pPr marL="7938" indent="0">
              <a:buNone/>
            </a:pPr>
            <a:r>
              <a:rPr lang="en-US" sz="3200" b="1" dirty="0"/>
              <a:t>CARP: Range-Query Optimized Indexing for Streaming Data</a:t>
            </a:r>
          </a:p>
          <a:p>
            <a:r>
              <a:rPr lang="en-US" sz="3200" i="1" dirty="0"/>
              <a:t>Challenge</a:t>
            </a:r>
            <a:r>
              <a:rPr lang="en-US" sz="3200" dirty="0"/>
              <a:t>: skewed and dynamic key distributions</a:t>
            </a:r>
          </a:p>
          <a:p>
            <a:r>
              <a:rPr lang="en-US" sz="3200" i="1" dirty="0"/>
              <a:t>Approach</a:t>
            </a:r>
            <a:r>
              <a:rPr lang="en-US" sz="3200" dirty="0"/>
              <a:t>: reconstruct global histograms to steer shuffling</a:t>
            </a:r>
          </a:p>
          <a:p>
            <a:r>
              <a:rPr lang="en-US" sz="3200" dirty="0"/>
              <a:t>No runtime overhead, ~optimal query performance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B2B37F-F343-4833-9D3A-5D4D28BF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00F7A94-D97D-B9B5-A1DE-D797422C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AB6BCC-4665-8F36-E48C-23CF24C6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03ADDC-ED60-34EB-589E-8BE54EA54931}"/>
              </a:ext>
            </a:extLst>
          </p:cNvPr>
          <p:cNvSpPr txBox="1">
            <a:spLocks/>
          </p:cNvSpPr>
          <p:nvPr/>
        </p:nvSpPr>
        <p:spPr>
          <a:xfrm>
            <a:off x="914400" y="4486310"/>
            <a:ext cx="12801600" cy="2543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7663" indent="-339725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2325" indent="-41910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tabLst/>
              <a:defRPr sz="3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938" indent="0">
              <a:buFont typeface="Arial" panose="020B0604020202020204" pitchFamily="34" charset="0"/>
              <a:buNone/>
            </a:pPr>
            <a:r>
              <a:rPr lang="en-US" sz="3200" b="1" dirty="0"/>
              <a:t>Lessons from Profiling and Optimizing Placement in AMR</a:t>
            </a:r>
          </a:p>
          <a:p>
            <a:r>
              <a:rPr lang="en-US" sz="3200" dirty="0"/>
              <a:t>AMR: adaptive mesh codes with load-balancing challenges</a:t>
            </a:r>
          </a:p>
          <a:p>
            <a:r>
              <a:rPr lang="en-US" sz="3200" i="1" dirty="0"/>
              <a:t>Our work</a:t>
            </a:r>
            <a:r>
              <a:rPr lang="en-US" sz="3200" dirty="0"/>
              <a:t>: telemetry collection + analysis + tuning + placement</a:t>
            </a:r>
          </a:p>
          <a:p>
            <a:r>
              <a:rPr lang="en-US" sz="3200" i="1" dirty="0"/>
              <a:t>Lesson</a:t>
            </a:r>
            <a:r>
              <a:rPr lang="en-US" sz="3200" dirty="0"/>
              <a:t>: solutions idiosyncratic, need real-time observability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ORCA: Programmable, Real-time Observability</a:t>
            </a:r>
            <a:endParaRPr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196CAF-8C7D-C14D-C1AC-6131268B0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02042"/>
            <a:ext cx="12801600" cy="5486400"/>
          </a:xfrm>
        </p:spPr>
        <p:txBody>
          <a:bodyPr>
            <a:normAutofit/>
          </a:bodyPr>
          <a:lstStyle/>
          <a:p>
            <a:r>
              <a:rPr lang="en-US" sz="3200" dirty="0"/>
              <a:t>ORCA: </a:t>
            </a:r>
            <a:r>
              <a:rPr lang="en-US" sz="3200" i="1" dirty="0"/>
              <a:t>Observability with Realtime Control and Aggregation</a:t>
            </a:r>
          </a:p>
          <a:p>
            <a:r>
              <a:rPr lang="en-US" sz="3200" dirty="0"/>
              <a:t>Status Quo: unstructured traces + postprocessing for insight</a:t>
            </a:r>
          </a:p>
          <a:p>
            <a:pPr lvl="1"/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OTF2</a:t>
            </a:r>
            <a:r>
              <a:rPr lang="en-US" sz="2800" dirty="0"/>
              <a:t> in HPC, </a:t>
            </a:r>
            <a:r>
              <a:rPr lang="en-US" sz="28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Kineto</a:t>
            </a:r>
            <a:r>
              <a:rPr lang="en-US" sz="2800" dirty="0"/>
              <a:t> traces (JSON) in </a:t>
            </a:r>
            <a:r>
              <a:rPr lang="en-US" sz="2800" dirty="0" err="1"/>
              <a:t>Pytorch</a:t>
            </a:r>
            <a:endParaRPr lang="en-US" sz="2800" dirty="0"/>
          </a:p>
          <a:p>
            <a:pPr lvl="1"/>
            <a:r>
              <a:rPr lang="en-US" sz="2800" dirty="0"/>
              <a:t>Expensive to collect, parse and analyze, delayed feedback</a:t>
            </a:r>
          </a:p>
          <a:p>
            <a:r>
              <a:rPr lang="en-US" sz="3200" dirty="0"/>
              <a:t>ORCA: tree-based overlay + SQL-based columnar analytics</a:t>
            </a:r>
          </a:p>
          <a:p>
            <a:pPr lvl="1"/>
            <a:r>
              <a:rPr lang="en-US" sz="2800" dirty="0"/>
              <a:t>Planning, collection, aggregation optimized for BSP timesteps</a:t>
            </a:r>
          </a:p>
          <a:p>
            <a:pPr lvl="1"/>
            <a:r>
              <a:rPr lang="en-US" sz="2800" dirty="0"/>
              <a:t>Control semantics for online steering of views</a:t>
            </a:r>
          </a:p>
          <a:p>
            <a:pPr lvl="1"/>
            <a:r>
              <a:rPr lang="en-US" sz="2800" dirty="0"/>
              <a:t>Analogy: </a:t>
            </a:r>
            <a:r>
              <a:rPr lang="en-US" sz="2800" i="1" dirty="0" err="1"/>
              <a:t>eBPF</a:t>
            </a:r>
            <a:r>
              <a:rPr lang="en-US" sz="2800" i="1" dirty="0"/>
              <a:t> at cluster-scale</a:t>
            </a: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B2B37F-F343-4833-9D3A-5D4D28BF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00F7A94-D97D-B9B5-A1DE-D797422C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AB6BCC-4665-8F36-E48C-23CF24C6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9CFC3E-DC55-A003-14B4-8B2A5DE95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974" y="4520089"/>
            <a:ext cx="3908763" cy="34340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206"/>
            <a:ext cx="12801600" cy="1590676"/>
          </a:xfrm>
        </p:spPr>
        <p:txBody>
          <a:bodyPr/>
          <a:lstStyle/>
          <a:p>
            <a:pPr marL="0" lvl="0" indent="0">
              <a:buNone/>
            </a:pPr>
            <a:r>
              <a:t>Thesis Statement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B2B37F-F343-4833-9D3A-5D4D28BF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21637" y="7802761"/>
            <a:ext cx="3291840" cy="438150"/>
          </a:xfrm>
        </p:spPr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00F7A94-D97D-B9B5-A1DE-D797422C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AB6BCC-4665-8F36-E48C-23CF24C6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1E5EF3-14B5-643F-5172-C22C19FB8C02}"/>
              </a:ext>
            </a:extLst>
          </p:cNvPr>
          <p:cNvSpPr txBox="1"/>
          <p:nvPr/>
        </p:nvSpPr>
        <p:spPr>
          <a:xfrm>
            <a:off x="503560" y="1907144"/>
            <a:ext cx="136070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This thesis argues that:</a:t>
            </a:r>
          </a:p>
          <a:p>
            <a:pPr algn="ctr"/>
            <a:r>
              <a:rPr lang="en-US" sz="2800" dirty="0"/>
              <a:t>persistent efficiency bottlenecks  </a:t>
            </a:r>
          </a:p>
          <a:p>
            <a:pPr algn="ctr"/>
            <a:r>
              <a:rPr lang="en-US" sz="2800" dirty="0"/>
              <a:t>in </a:t>
            </a:r>
            <a:r>
              <a:rPr lang="en-US" sz="2800" i="1" dirty="0"/>
              <a:t>Bulk Synchronous Parallel</a:t>
            </a:r>
            <a:r>
              <a:rPr lang="en-US" sz="2800" dirty="0"/>
              <a:t> (BSP) systems </a:t>
            </a:r>
          </a:p>
          <a:p>
            <a:pPr algn="ctr"/>
            <a:r>
              <a:rPr lang="en-US" sz="2800" dirty="0"/>
              <a:t>are fundamentally visibility problems,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BBB762-C340-171B-1A09-447C1919A9EE}"/>
              </a:ext>
            </a:extLst>
          </p:cNvPr>
          <p:cNvSpPr txBox="1"/>
          <p:nvPr/>
        </p:nvSpPr>
        <p:spPr>
          <a:xfrm>
            <a:off x="511661" y="3884503"/>
            <a:ext cx="136070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stemming from an inability to </a:t>
            </a:r>
          </a:p>
          <a:p>
            <a:pPr algn="ctr"/>
            <a:r>
              <a:rPr lang="en-US" sz="2800" i="1" dirty="0"/>
              <a:t>reconstruct global views from distributed local state </a:t>
            </a:r>
          </a:p>
          <a:p>
            <a:pPr algn="ctr"/>
            <a:r>
              <a:rPr lang="en-US" sz="2800" i="1" dirty="0"/>
              <a:t>in real time,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5FC82-23DA-60A1-502A-130EBA5411FB}"/>
              </a:ext>
            </a:extLst>
          </p:cNvPr>
          <p:cNvSpPr txBox="1"/>
          <p:nvPr/>
        </p:nvSpPr>
        <p:spPr>
          <a:xfrm>
            <a:off x="511661" y="5430975"/>
            <a:ext cx="136070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and proposes a programmable, query-driven  </a:t>
            </a:r>
          </a:p>
          <a:p>
            <a:pPr algn="ctr"/>
            <a:r>
              <a:rPr lang="en-US" sz="2800" dirty="0"/>
              <a:t>observability and control plane </a:t>
            </a:r>
          </a:p>
          <a:p>
            <a:pPr algn="ctr"/>
            <a:r>
              <a:rPr lang="en-US" sz="2800" dirty="0"/>
              <a:t>to fill this gap.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206"/>
            <a:ext cx="12801600" cy="1590676"/>
          </a:xfrm>
        </p:spPr>
        <p:txBody>
          <a:bodyPr/>
          <a:lstStyle/>
          <a:p>
            <a:pPr marL="0" lvl="0" indent="0">
              <a:buNone/>
            </a:pPr>
            <a:r>
              <a:t>Talk Outline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B2B37F-F343-4833-9D3A-5D4D28BF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21637" y="7802761"/>
            <a:ext cx="3291840" cy="438150"/>
          </a:xfrm>
        </p:spPr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00F7A94-D97D-B9B5-A1DE-D797422C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AB6BCC-4665-8F36-E48C-23CF24C6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5F708-BFEE-3882-A3A8-A0107F2D2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CARP: Continuous, Adaptive Range Partitioner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71F93-D11D-CB8E-4A18-D8F5CB5F5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F67BC-B50C-7841-764A-1672EACAB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CACBC-C4B6-897C-E2A4-147CC8226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3CD70-6AE1-5563-A090-8C3947808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43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5D7C1-194B-A258-3C8A-ABEADC71E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07C02-80A4-5EAC-B853-B67A03FEE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16F7F-1508-F34C-AEDE-1D7757F54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8B958-44C9-89B8-972C-4467039B6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1ED90-5B2E-D68A-51C7-9B06B2842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85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E58E7-250C-CE7C-E09F-A80FBFB6E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ORCA Motivation: Lessons from AMR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C6D85-D7F0-DCD0-08BA-A0C364B17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344843"/>
            <a:ext cx="12974128" cy="5486400"/>
          </a:xfrm>
        </p:spPr>
        <p:txBody>
          <a:bodyPr>
            <a:normAutofit/>
          </a:bodyPr>
          <a:lstStyle/>
          <a:p>
            <a:r>
              <a:rPr lang="en-US" sz="3200" dirty="0"/>
              <a:t>BSP efficiency hinges on real-time reconstruction of global views</a:t>
            </a:r>
          </a:p>
          <a:p>
            <a:pPr lvl="1"/>
            <a:r>
              <a:rPr lang="en-US" sz="2800" dirty="0"/>
              <a:t>Bugs, system tuning, algorithm selection, algorithm tuning...</a:t>
            </a:r>
          </a:p>
          <a:p>
            <a:pPr lvl="1"/>
            <a:r>
              <a:rPr lang="en-US" sz="2800" dirty="0"/>
              <a:t>Need spatial and temporal proximity between collection and analysis</a:t>
            </a:r>
          </a:p>
          <a:p>
            <a:r>
              <a:rPr lang="en-US" sz="3200" dirty="0"/>
              <a:t>Columnar analytics 1-2 OOM faster than JSON/OTF2</a:t>
            </a:r>
          </a:p>
          <a:p>
            <a:pPr lvl="1"/>
            <a:r>
              <a:rPr lang="en-US" dirty="0"/>
              <a:t>Custom schemas and programmable aggregations via declarative interfaces</a:t>
            </a:r>
          </a:p>
          <a:p>
            <a:r>
              <a:rPr lang="en-US" dirty="0"/>
              <a:t>Can we enable dynamic always-on observability workflows for BSP?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79C7B-7402-3672-8FD5-2946881DD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B12B2-185B-DFFF-6425-2F4B888E9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72CA4-FF92-2E64-5AFB-EBE8E0CC4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06D796-ED6C-145C-E227-032802A587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872"/>
          <a:stretch>
            <a:fillRect/>
          </a:stretch>
        </p:blipFill>
        <p:spPr>
          <a:xfrm>
            <a:off x="2652208" y="4971330"/>
            <a:ext cx="9325984" cy="262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29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EACF8-429F-0ADE-DAE4-7043FC0F2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 Quo (Aggregates/Tracing) Is Inadequate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F03BF-A231-BEF8-D9A0-DD9C5B0C74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28831" y="7833408"/>
            <a:ext cx="3291840" cy="438150"/>
          </a:xfrm>
        </p:spPr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3FF1E-4A4D-44AC-3CEF-16A930620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4CA06-8F13-49B2-46A1-C58007CEB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432789A-359A-72AE-E08D-D9F78DB27C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63" r="24103" b="16308"/>
          <a:stretch>
            <a:fillRect/>
          </a:stretch>
        </p:blipFill>
        <p:spPr>
          <a:xfrm>
            <a:off x="10469208" y="1670853"/>
            <a:ext cx="3291839" cy="32990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2AB263F-DD1A-FC0C-57A2-49DEAB5E0B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6761" b="16308"/>
          <a:stretch>
            <a:fillRect/>
          </a:stretch>
        </p:blipFill>
        <p:spPr>
          <a:xfrm>
            <a:off x="7798535" y="4741759"/>
            <a:ext cx="2961183" cy="32990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8AEA80D-26F0-36DB-E2C2-DBACF3354B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01" r="50321" b="16308"/>
          <a:stretch>
            <a:fillRect/>
          </a:stretch>
        </p:blipFill>
        <p:spPr>
          <a:xfrm>
            <a:off x="7740204" y="1666993"/>
            <a:ext cx="3106381" cy="32990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1D71AD7-AA3C-57DA-0C78-1F035CEFEE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806" t="-2002" r="-640" b="18310"/>
          <a:stretch>
            <a:fillRect/>
          </a:stretch>
        </p:blipFill>
        <p:spPr>
          <a:xfrm>
            <a:off x="10358822" y="4645387"/>
            <a:ext cx="3291839" cy="32990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FE10D72-9C0A-DAF0-C0C5-048911D2F0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478" t="81122" r="20094" b="655"/>
          <a:stretch>
            <a:fillRect/>
          </a:stretch>
        </p:blipFill>
        <p:spPr>
          <a:xfrm>
            <a:off x="7315200" y="1132971"/>
            <a:ext cx="7062770" cy="718319"/>
          </a:xfrm>
          <a:prstGeom prst="rect">
            <a:avLst/>
          </a:prstGeom>
        </p:spPr>
      </p:pic>
      <p:pic>
        <p:nvPicPr>
          <p:cNvPr id="23" name="Picture 22" descr="A graph of a number of different types of tuning&#10;&#10;AI-generated content may be incorrect.">
            <a:extLst>
              <a:ext uri="{FF2B5EF4-FFF2-40B4-BE49-F238E27FC236}">
                <a16:creationId xmlns:a16="http://schemas.microsoft.com/office/drawing/2014/main" id="{D1CA7E74-D790-A2AB-7890-97A416EFB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36" y="1183085"/>
            <a:ext cx="6400800" cy="640080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300BD24-0F2E-000F-B798-BCAAB09CE254}"/>
              </a:ext>
            </a:extLst>
          </p:cNvPr>
          <p:cNvCxnSpPr>
            <a:cxnSpLocks/>
          </p:cNvCxnSpPr>
          <p:nvPr/>
        </p:nvCxnSpPr>
        <p:spPr>
          <a:xfrm>
            <a:off x="7315200" y="2172263"/>
            <a:ext cx="0" cy="494624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5437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479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61D20C27-7756-9822-5347-80E3F4728181}"/>
              </a:ext>
            </a:extLst>
          </p:cNvPr>
          <p:cNvSpPr txBox="1"/>
          <p:nvPr/>
        </p:nvSpPr>
        <p:spPr>
          <a:xfrm>
            <a:off x="2946470" y="5173101"/>
            <a:ext cx="4254947" cy="707886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pPr marL="342900" indent="-219075">
              <a:buFont typeface="Arial" panose="020B0604020202020204" pitchFamily="34" charset="0"/>
              <a:buChar char="•"/>
            </a:pPr>
            <a:r>
              <a:rPr lang="en-US" sz="2000" dirty="0"/>
              <a:t>Buffer traces in memory for 100s</a:t>
            </a:r>
          </a:p>
          <a:p>
            <a:pPr marL="342900" indent="-219075">
              <a:buFont typeface="Arial" panose="020B0604020202020204" pitchFamily="34" charset="0"/>
              <a:buChar char="•"/>
            </a:pPr>
            <a:r>
              <a:rPr lang="en-US" sz="2000" dirty="0"/>
              <a:t>Serialize to JSON and write to disk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F64B71-724B-6469-AF90-BCA6FC732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</a:t>
            </a:r>
            <a:r>
              <a:rPr lang="en-US" dirty="0" err="1"/>
              <a:t>Pytorch</a:t>
            </a:r>
            <a:r>
              <a:rPr lang="en-US" dirty="0"/>
              <a:t> </a:t>
            </a:r>
            <a:r>
              <a:rPr lang="en-US" dirty="0" err="1"/>
              <a:t>Kineto</a:t>
            </a:r>
            <a:r>
              <a:rPr lang="en-US" dirty="0"/>
              <a:t> Ecosystem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349E8-7B1A-3C84-4354-915994776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D2F59-6D7D-4E08-B9A1-964C3407D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9FC20-86FD-0D7C-3ED9-B1A74659D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DF13999-527F-DF44-F538-0A46C29A905A}"/>
              </a:ext>
            </a:extLst>
          </p:cNvPr>
          <p:cNvGrpSpPr/>
          <p:nvPr/>
        </p:nvGrpSpPr>
        <p:grpSpPr>
          <a:xfrm>
            <a:off x="914400" y="3273348"/>
            <a:ext cx="731520" cy="731520"/>
            <a:chOff x="3230491" y="2880360"/>
            <a:chExt cx="731520" cy="7315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2555E3D-D5BD-6888-9E70-8D868B32E9E0}"/>
                </a:ext>
              </a:extLst>
            </p:cNvPr>
            <p:cNvSpPr/>
            <p:nvPr/>
          </p:nvSpPr>
          <p:spPr>
            <a:xfrm>
              <a:off x="3230491" y="2880360"/>
              <a:ext cx="731520" cy="7315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727FAA4-561F-BF2A-6F91-AA05617064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7651" y="3017520"/>
              <a:ext cx="457200" cy="4572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6EA963B-CE65-D819-4CD0-EAEB0CA9458A}"/>
              </a:ext>
            </a:extLst>
          </p:cNvPr>
          <p:cNvSpPr txBox="1"/>
          <p:nvPr/>
        </p:nvSpPr>
        <p:spPr>
          <a:xfrm>
            <a:off x="2549189" y="1699840"/>
            <a:ext cx="3855992" cy="707886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pPr marL="342900" indent="-169863">
              <a:buFont typeface="Arial" panose="020B0604020202020204" pitchFamily="34" charset="0"/>
              <a:buChar char="•"/>
            </a:pPr>
            <a:r>
              <a:rPr lang="en-US" sz="2000" dirty="0" err="1"/>
              <a:t>collect_traces</a:t>
            </a:r>
            <a:r>
              <a:rPr lang="en-US" sz="2000" dirty="0"/>
              <a:t>(100s)</a:t>
            </a:r>
          </a:p>
          <a:p>
            <a:pPr marL="342900" indent="-169863">
              <a:buFont typeface="Arial" panose="020B0604020202020204" pitchFamily="34" charset="0"/>
              <a:buChar char="•"/>
            </a:pPr>
            <a:r>
              <a:rPr lang="en-US" sz="2000" dirty="0"/>
              <a:t>write </a:t>
            </a:r>
            <a:r>
              <a:rPr lang="en-US" sz="2000" dirty="0">
                <a:latin typeface="Aptos Mono" panose="020B0009020202020204" pitchFamily="49" charset="0"/>
              </a:rPr>
              <a:t>to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/</a:t>
            </a:r>
            <a:r>
              <a:rPr lang="en-US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nfs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/trace_{rank}.</a:t>
            </a:r>
            <a:r>
              <a:rPr lang="en-US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json</a:t>
            </a: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A8E0223-5985-FC99-EA41-E3BE7E490B33}"/>
              </a:ext>
            </a:extLst>
          </p:cNvPr>
          <p:cNvGrpSpPr/>
          <p:nvPr/>
        </p:nvGrpSpPr>
        <p:grpSpPr>
          <a:xfrm>
            <a:off x="1979113" y="3273348"/>
            <a:ext cx="731520" cy="731520"/>
            <a:chOff x="3230491" y="2880360"/>
            <a:chExt cx="731520" cy="73152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85A8A8A-8505-8E49-3CA4-0C9C1443BFF8}"/>
                </a:ext>
              </a:extLst>
            </p:cNvPr>
            <p:cNvSpPr/>
            <p:nvPr/>
          </p:nvSpPr>
          <p:spPr>
            <a:xfrm>
              <a:off x="3230491" y="2880360"/>
              <a:ext cx="731520" cy="7315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CD948D5-1381-2F2F-2D07-DB5B5AEA57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7651" y="3017520"/>
              <a:ext cx="457200" cy="4572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C53C419-9653-8FA8-00B0-80522CF43066}"/>
              </a:ext>
            </a:extLst>
          </p:cNvPr>
          <p:cNvGrpSpPr/>
          <p:nvPr/>
        </p:nvGrpSpPr>
        <p:grpSpPr>
          <a:xfrm>
            <a:off x="3060138" y="3273348"/>
            <a:ext cx="731520" cy="731520"/>
            <a:chOff x="3230491" y="2880360"/>
            <a:chExt cx="731520" cy="73152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2C9A355-3339-7CE0-6678-01D6365E0466}"/>
                </a:ext>
              </a:extLst>
            </p:cNvPr>
            <p:cNvSpPr/>
            <p:nvPr/>
          </p:nvSpPr>
          <p:spPr>
            <a:xfrm>
              <a:off x="3230491" y="2880360"/>
              <a:ext cx="731520" cy="7315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A67D11C-44E3-C4AB-5B6A-31AAF7C630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7651" y="3017520"/>
              <a:ext cx="457200" cy="4572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…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CAB9C84-84D1-8434-9776-AF1EC0C12389}"/>
              </a:ext>
            </a:extLst>
          </p:cNvPr>
          <p:cNvGrpSpPr/>
          <p:nvPr/>
        </p:nvGrpSpPr>
        <p:grpSpPr>
          <a:xfrm>
            <a:off x="1979113" y="1691068"/>
            <a:ext cx="731520" cy="731520"/>
            <a:chOff x="3230491" y="2880360"/>
            <a:chExt cx="731520" cy="73152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8E323F4-18D9-2042-E7FE-F6B3524472F0}"/>
                </a:ext>
              </a:extLst>
            </p:cNvPr>
            <p:cNvSpPr/>
            <p:nvPr/>
          </p:nvSpPr>
          <p:spPr>
            <a:xfrm>
              <a:off x="3230491" y="2880360"/>
              <a:ext cx="731520" cy="73152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62820A8-B3B2-1137-34AE-FACE225F17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67651" y="3017520"/>
              <a:ext cx="457200" cy="457200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8D2CD32-C532-012E-0EF5-E37ECC576848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1554251" y="2422588"/>
            <a:ext cx="790622" cy="384637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F0797ED-DC91-1EEE-9843-892FD1A4D10E}"/>
              </a:ext>
            </a:extLst>
          </p:cNvPr>
          <p:cNvCxnSpPr>
            <a:cxnSpLocks/>
            <a:stCxn id="29" idx="2"/>
            <a:endCxn id="1025" idx="0"/>
          </p:cNvCxnSpPr>
          <p:nvPr/>
        </p:nvCxnSpPr>
        <p:spPr>
          <a:xfrm flipH="1">
            <a:off x="2329913" y="2422588"/>
            <a:ext cx="14960" cy="370791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9DB67B5-3D22-813D-9FB4-AA9F9A50BFC6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2344873" y="2422588"/>
            <a:ext cx="784357" cy="393538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an 39">
            <a:extLst>
              <a:ext uri="{FF2B5EF4-FFF2-40B4-BE49-F238E27FC236}">
                <a16:creationId xmlns:a16="http://schemas.microsoft.com/office/drawing/2014/main" id="{9F066B96-2069-A36E-9E1D-1719DA802E28}"/>
              </a:ext>
            </a:extLst>
          </p:cNvPr>
          <p:cNvSpPr/>
          <p:nvPr/>
        </p:nvSpPr>
        <p:spPr>
          <a:xfrm>
            <a:off x="1779616" y="4768190"/>
            <a:ext cx="1179623" cy="119638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>
            <a:extLst>
              <a:ext uri="{FF2B5EF4-FFF2-40B4-BE49-F238E27FC236}">
                <a16:creationId xmlns:a16="http://schemas.microsoft.com/office/drawing/2014/main" id="{587BEF1B-2F1A-2A7A-BC69-A84DA2532EBB}"/>
              </a:ext>
            </a:extLst>
          </p:cNvPr>
          <p:cNvSpPr/>
          <p:nvPr/>
        </p:nvSpPr>
        <p:spPr>
          <a:xfrm rot="20517801">
            <a:off x="1491175" y="4183567"/>
            <a:ext cx="303756" cy="405837"/>
          </a:xfrm>
          <a:prstGeom prst="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>
            <a:extLst>
              <a:ext uri="{FF2B5EF4-FFF2-40B4-BE49-F238E27FC236}">
                <a16:creationId xmlns:a16="http://schemas.microsoft.com/office/drawing/2014/main" id="{3EF5EFA5-2759-8A1B-23E9-2907B05254A0}"/>
              </a:ext>
            </a:extLst>
          </p:cNvPr>
          <p:cNvSpPr/>
          <p:nvPr/>
        </p:nvSpPr>
        <p:spPr>
          <a:xfrm>
            <a:off x="2200798" y="4204318"/>
            <a:ext cx="303756" cy="359034"/>
          </a:xfrm>
          <a:prstGeom prst="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733AF8BF-ECEB-BC50-91E4-B8EA2D2DF5AE}"/>
              </a:ext>
            </a:extLst>
          </p:cNvPr>
          <p:cNvSpPr/>
          <p:nvPr/>
        </p:nvSpPr>
        <p:spPr>
          <a:xfrm rot="912556">
            <a:off x="2939958" y="4232608"/>
            <a:ext cx="303756" cy="368649"/>
          </a:xfrm>
          <a:prstGeom prst="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707BD28-ACE7-4E07-7ED2-70D56B1E5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220" y="5123997"/>
            <a:ext cx="490506" cy="48069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DDE1577-A4A1-768A-44DB-E4BFD1200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790" y="5203634"/>
            <a:ext cx="490506" cy="48069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BFAECC4-9A33-F96D-BBC1-0FB841D15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068" y="5298888"/>
            <a:ext cx="490506" cy="480696"/>
          </a:xfrm>
          <a:prstGeom prst="rect">
            <a:avLst/>
          </a:prstGeom>
        </p:spPr>
      </p:pic>
      <p:sp>
        <p:nvSpPr>
          <p:cNvPr id="50" name="Down Arrow 49">
            <a:extLst>
              <a:ext uri="{FF2B5EF4-FFF2-40B4-BE49-F238E27FC236}">
                <a16:creationId xmlns:a16="http://schemas.microsoft.com/office/drawing/2014/main" id="{6345768E-920E-C9BE-59B9-190FACA9C890}"/>
              </a:ext>
            </a:extLst>
          </p:cNvPr>
          <p:cNvSpPr/>
          <p:nvPr/>
        </p:nvSpPr>
        <p:spPr>
          <a:xfrm rot="20232299">
            <a:off x="2541198" y="6207307"/>
            <a:ext cx="480696" cy="286066"/>
          </a:xfrm>
          <a:prstGeom prst="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CE0185BD-B9E7-E982-7F76-376D0A9FB67D}"/>
              </a:ext>
            </a:extLst>
          </p:cNvPr>
          <p:cNvSpPr/>
          <p:nvPr/>
        </p:nvSpPr>
        <p:spPr>
          <a:xfrm>
            <a:off x="3221501" y="5931569"/>
            <a:ext cx="1524917" cy="11963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Holistic Trace Analysis</a:t>
            </a:r>
          </a:p>
        </p:txBody>
      </p:sp>
      <p:sp>
        <p:nvSpPr>
          <p:cNvPr id="53" name="Down Arrow 52">
            <a:extLst>
              <a:ext uri="{FF2B5EF4-FFF2-40B4-BE49-F238E27FC236}">
                <a16:creationId xmlns:a16="http://schemas.microsoft.com/office/drawing/2014/main" id="{34621D18-F8F7-65CF-086D-31912FCA54FB}"/>
              </a:ext>
            </a:extLst>
          </p:cNvPr>
          <p:cNvSpPr/>
          <p:nvPr/>
        </p:nvSpPr>
        <p:spPr>
          <a:xfrm rot="16200000">
            <a:off x="5020102" y="6343047"/>
            <a:ext cx="271006" cy="373424"/>
          </a:xfrm>
          <a:prstGeom prst="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2C414EED-2DF0-28B5-6DF5-2E69DDFFE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792" y="6103915"/>
            <a:ext cx="1122484" cy="853088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EE2EB25D-4F80-D0A8-5AC8-6D5313F05113}"/>
              </a:ext>
            </a:extLst>
          </p:cNvPr>
          <p:cNvSpPr txBox="1"/>
          <p:nvPr/>
        </p:nvSpPr>
        <p:spPr>
          <a:xfrm>
            <a:off x="6405181" y="6394255"/>
            <a:ext cx="4914819" cy="400110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Parse and analyze traces using HTA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A9F127E5-53CB-0E0D-584D-9B195D05CB85}"/>
              </a:ext>
            </a:extLst>
          </p:cNvPr>
          <p:cNvSpPr txBox="1"/>
          <p:nvPr/>
        </p:nvSpPr>
        <p:spPr>
          <a:xfrm>
            <a:off x="1414169" y="1191114"/>
            <a:ext cx="1861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Dynolog</a:t>
            </a:r>
            <a:r>
              <a:rPr lang="en-US" sz="2400" b="1" dirty="0"/>
              <a:t> CLI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BF949C2F-CAE4-CFEA-C188-279A76AF6AF9}"/>
              </a:ext>
            </a:extLst>
          </p:cNvPr>
          <p:cNvSpPr txBox="1"/>
          <p:nvPr/>
        </p:nvSpPr>
        <p:spPr>
          <a:xfrm>
            <a:off x="1462528" y="2793379"/>
            <a:ext cx="1734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GPU nodes</a:t>
            </a:r>
          </a:p>
        </p:txBody>
      </p:sp>
      <p:pic>
        <p:nvPicPr>
          <p:cNvPr id="1034" name="Picture 1033" descr="Magnifying glass with solid fill">
            <a:extLst>
              <a:ext uri="{FF2B5EF4-FFF2-40B4-BE49-F238E27FC236}">
                <a16:creationId xmlns:a16="http://schemas.microsoft.com/office/drawing/2014/main" id="{E71AB9E4-CFF8-5DD0-B9E9-A97D9403E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180513" y="6529758"/>
            <a:ext cx="1179623" cy="1179623"/>
          </a:xfrm>
          <a:prstGeom prst="rect">
            <a:avLst/>
          </a:prstGeom>
        </p:spPr>
      </p:pic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AEA65BF6-2B8D-C733-C93C-676EA5DEE26B}"/>
              </a:ext>
            </a:extLst>
          </p:cNvPr>
          <p:cNvGrpSpPr/>
          <p:nvPr/>
        </p:nvGrpSpPr>
        <p:grpSpPr>
          <a:xfrm>
            <a:off x="5493800" y="1941364"/>
            <a:ext cx="8365339" cy="1513403"/>
            <a:chOff x="5846938" y="1749944"/>
            <a:chExt cx="8365339" cy="1513403"/>
          </a:xfrm>
        </p:grpSpPr>
        <p:sp>
          <p:nvSpPr>
            <p:cNvPr id="1037" name="Rounded Rectangle 1036">
              <a:extLst>
                <a:ext uri="{FF2B5EF4-FFF2-40B4-BE49-F238E27FC236}">
                  <a16:creationId xmlns:a16="http://schemas.microsoft.com/office/drawing/2014/main" id="{87E25E9B-6281-8537-7AC6-4BB77DB41EFD}"/>
                </a:ext>
              </a:extLst>
            </p:cNvPr>
            <p:cNvSpPr/>
            <p:nvPr/>
          </p:nvSpPr>
          <p:spPr>
            <a:xfrm>
              <a:off x="5846938" y="1749944"/>
              <a:ext cx="8297271" cy="1513403"/>
            </a:xfrm>
            <a:prstGeom prst="roundRect">
              <a:avLst>
                <a:gd name="adj" fmla="val 1562"/>
              </a:avLst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A5C6F599-0951-F711-00B2-A7B85EAD23DA}"/>
                </a:ext>
              </a:extLst>
            </p:cNvPr>
            <p:cNvSpPr txBox="1"/>
            <p:nvPr/>
          </p:nvSpPr>
          <p:spPr>
            <a:xfrm>
              <a:off x="5915006" y="1816028"/>
              <a:ext cx="8297271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800" dirty="0"/>
                <a:t>HTA is single-node </a:t>
              </a:r>
              <a:r>
                <a:rPr lang="en-US" sz="2800" dirty="0">
                  <a:solidFill>
                    <a:schemeClr val="accent1">
                      <a:lumMod val="75000"/>
                    </a:schemeClr>
                  </a:solidFill>
                </a:rPr>
                <a:t>pandas</a:t>
              </a:r>
              <a:r>
                <a:rPr lang="en-US" sz="2800" dirty="0"/>
                <a:t>/python scripts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800" dirty="0"/>
                <a:t>Pandas is a columnar format, HTA parses JSON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800" dirty="0"/>
                <a:t>It is slow: we found </a:t>
              </a:r>
              <a:r>
                <a:rPr lang="en-US" sz="2800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Parquet</a:t>
              </a:r>
              <a:r>
                <a:rPr lang="en-US" sz="2800" dirty="0"/>
                <a:t> 18X faster (</a:t>
              </a:r>
              <a:r>
                <a:rPr lang="en-US" sz="2800" i="1" dirty="0"/>
                <a:t>also offline</a:t>
              </a:r>
              <a:r>
                <a:rPr lang="en-US" sz="2800" dirty="0"/>
                <a:t>)</a:t>
              </a:r>
            </a:p>
          </p:txBody>
        </p:sp>
      </p:grp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AD955FA2-9C2D-34C6-42F1-F9257C59D5E8}"/>
              </a:ext>
            </a:extLst>
          </p:cNvPr>
          <p:cNvGrpSpPr/>
          <p:nvPr/>
        </p:nvGrpSpPr>
        <p:grpSpPr>
          <a:xfrm>
            <a:off x="4746418" y="3661085"/>
            <a:ext cx="9755188" cy="1519893"/>
            <a:chOff x="4829818" y="3862411"/>
            <a:chExt cx="9755188" cy="1519893"/>
          </a:xfrm>
        </p:grpSpPr>
        <p:sp>
          <p:nvSpPr>
            <p:cNvPr id="1039" name="Rounded Rectangle 1038">
              <a:extLst>
                <a:ext uri="{FF2B5EF4-FFF2-40B4-BE49-F238E27FC236}">
                  <a16:creationId xmlns:a16="http://schemas.microsoft.com/office/drawing/2014/main" id="{2BC9DBE9-DA2E-9A52-BF2E-FB12098D4A44}"/>
                </a:ext>
              </a:extLst>
            </p:cNvPr>
            <p:cNvSpPr/>
            <p:nvPr/>
          </p:nvSpPr>
          <p:spPr>
            <a:xfrm>
              <a:off x="4829818" y="3862411"/>
              <a:ext cx="9650271" cy="1519893"/>
            </a:xfrm>
            <a:prstGeom prst="roundRect">
              <a:avLst>
                <a:gd name="adj" fmla="val 2239"/>
              </a:avLst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8E056B46-A83A-E119-B257-E4195C5EE59E}"/>
                </a:ext>
              </a:extLst>
            </p:cNvPr>
            <p:cNvSpPr txBox="1"/>
            <p:nvPr/>
          </p:nvSpPr>
          <p:spPr>
            <a:xfrm>
              <a:off x="4934735" y="3934209"/>
              <a:ext cx="9650271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800" b="1" dirty="0"/>
                <a:t>If analytics are columnar, emission can be too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800" dirty="0">
                  <a:solidFill>
                    <a:schemeClr val="accent1">
                      <a:lumMod val="75000"/>
                    </a:schemeClr>
                  </a:solidFill>
                </a:rPr>
                <a:t>Chrome </a:t>
              </a:r>
              <a:r>
                <a:rPr lang="en-US" sz="2800" dirty="0" err="1">
                  <a:solidFill>
                    <a:schemeClr val="accent1">
                      <a:lumMod val="75000"/>
                    </a:schemeClr>
                  </a:solidFill>
                </a:rPr>
                <a:t>TraceEvent</a:t>
              </a:r>
              <a:r>
                <a:rPr lang="en-US" sz="2800" dirty="0">
                  <a:solidFill>
                    <a:schemeClr val="accent1">
                      <a:lumMod val="75000"/>
                    </a:schemeClr>
                  </a:solidFill>
                </a:rPr>
                <a:t> JSON </a:t>
              </a:r>
              <a:r>
                <a:rPr lang="en-US" sz="2800" dirty="0"/>
                <a:t>was designed for visual timelines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800" b="1" dirty="0"/>
                <a:t>Can not visually inspect 1000-node bottlenecks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0473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6B2B1-6C20-6A74-DE2E-7311125F5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Timeseries DBs Not Work?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A3E73-FCD3-2904-B78D-E2584B63C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5BDC3-D08B-B719-EAFA-298A31C70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CB040-C165-2D05-3EA9-BB95B7A2D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90735D8-FDFD-674F-8CBA-522C419EA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18902"/>
            <a:ext cx="12801600" cy="368913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Optimized for timestamped metrics, BSP telemetry needs a GROUPBY</a:t>
            </a:r>
          </a:p>
          <a:p>
            <a:r>
              <a:rPr lang="en-US" dirty="0"/>
              <a:t>Need a proxy to ingest from 100k processes</a:t>
            </a:r>
          </a:p>
          <a:p>
            <a:pPr lvl="1"/>
            <a:r>
              <a:rPr lang="en-US" dirty="0"/>
              <a:t>ORCA is a “smart” proxy optimized for BSP timesteps</a:t>
            </a:r>
          </a:p>
          <a:p>
            <a:r>
              <a:rPr lang="en-US" dirty="0"/>
              <a:t>Can not support pushdowns or control semantics</a:t>
            </a:r>
          </a:p>
          <a:p>
            <a:r>
              <a:rPr lang="en-US" dirty="0"/>
              <a:t>Not optimized for HPC fabrics</a:t>
            </a:r>
          </a:p>
          <a:p>
            <a:r>
              <a:rPr lang="en-US" dirty="0"/>
              <a:t>Experimental paradigm: need query plan access</a:t>
            </a:r>
          </a:p>
        </p:txBody>
      </p:sp>
      <p:graphicFrame>
        <p:nvGraphicFramePr>
          <p:cNvPr id="10" name="Content Placeholder 5">
            <a:extLst>
              <a:ext uri="{FF2B5EF4-FFF2-40B4-BE49-F238E27FC236}">
                <a16:creationId xmlns:a16="http://schemas.microsoft.com/office/drawing/2014/main" id="{C8BCE7D1-C2AC-8702-18F2-F0AA724263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9588358"/>
              </p:ext>
            </p:extLst>
          </p:nvPr>
        </p:nvGraphicFramePr>
        <p:xfrm>
          <a:off x="3962011" y="5301358"/>
          <a:ext cx="7594981" cy="21031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393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7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0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23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Timestep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Duration (</a:t>
                      </a:r>
                      <a:r>
                        <a:rPr dirty="0" err="1"/>
                        <a:t>ms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MPI_Barrier()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MPI_Barrier()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2654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96E9-78CB-D9E5-CCB8-D5D8038B9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ORCA: A TBON for Aggregation and Broadcast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DC8BF-9794-A4F1-C4C8-D971E2921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1A411-FD8E-0B90-0628-B1A9F61A0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17DC8-2141-BF15-5D05-B92F7B6C1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EE35C3-0126-AAFB-C532-860BDD51C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046" y="2763916"/>
            <a:ext cx="9322675" cy="3970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DB6978-A572-B729-8B8A-4DF382F1A182}"/>
              </a:ext>
            </a:extLst>
          </p:cNvPr>
          <p:cNvSpPr txBox="1"/>
          <p:nvPr/>
        </p:nvSpPr>
        <p:spPr>
          <a:xfrm>
            <a:off x="914400" y="1173240"/>
            <a:ext cx="4847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accent1">
                    <a:lumMod val="75000"/>
                  </a:schemeClr>
                </a:solidFill>
              </a:rPr>
              <a:t>TBON: Tree-based Overlay Network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165D3E-186E-80E8-84AA-74446DCC6CE9}"/>
              </a:ext>
            </a:extLst>
          </p:cNvPr>
          <p:cNvSpPr txBox="1"/>
          <p:nvPr/>
        </p:nvSpPr>
        <p:spPr>
          <a:xfrm>
            <a:off x="271910" y="5584906"/>
            <a:ext cx="40406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Leaves (BSP ranks)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Collect telemetry as Arrow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Flush every timestep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B62882-E0C6-BADA-0605-330500547D5E}"/>
              </a:ext>
            </a:extLst>
          </p:cNvPr>
          <p:cNvSpPr txBox="1"/>
          <p:nvPr/>
        </p:nvSpPr>
        <p:spPr>
          <a:xfrm>
            <a:off x="271910" y="4592713"/>
            <a:ext cx="44088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MPIREP ranks (optional)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Intermediate fan-in reduction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59E5EF-F3D3-387B-F90C-5C8F63CD63E4}"/>
              </a:ext>
            </a:extLst>
          </p:cNvPr>
          <p:cNvSpPr txBox="1"/>
          <p:nvPr/>
        </p:nvSpPr>
        <p:spPr>
          <a:xfrm>
            <a:off x="271910" y="3258957"/>
            <a:ext cx="52684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Aggregators (AGG)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Scale-out collection tier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Receive rank-partitioned Arrow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4201B4-1874-B406-774F-AD58C3E0E81B}"/>
              </a:ext>
            </a:extLst>
          </p:cNvPr>
          <p:cNvSpPr txBox="1"/>
          <p:nvPr/>
        </p:nvSpPr>
        <p:spPr>
          <a:xfrm>
            <a:off x="268134" y="2294533"/>
            <a:ext cx="54936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Controller (CTL)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Orchestrator, planner, root aggregator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14F1D7-7471-9808-B232-1670453E397D}"/>
              </a:ext>
            </a:extLst>
          </p:cNvPr>
          <p:cNvSpPr txBox="1"/>
          <p:nvPr/>
        </p:nvSpPr>
        <p:spPr>
          <a:xfrm>
            <a:off x="11551247" y="3793904"/>
            <a:ext cx="2807243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9A3035"/>
                </a:solidFill>
              </a:rPr>
              <a:t>Mercury RPCs </a:t>
            </a:r>
          </a:p>
          <a:p>
            <a:r>
              <a:rPr lang="en-US" sz="2400" b="1" i="1" dirty="0">
                <a:solidFill>
                  <a:srgbClr val="9A3035"/>
                </a:solidFill>
              </a:rPr>
              <a:t>(RDMA if available)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614501-35E5-5B6A-CCD1-DAB03FDFA572}"/>
              </a:ext>
            </a:extLst>
          </p:cNvPr>
          <p:cNvSpPr txBox="1"/>
          <p:nvPr/>
        </p:nvSpPr>
        <p:spPr>
          <a:xfrm>
            <a:off x="6081139" y="1517746"/>
            <a:ext cx="6324488" cy="1200329"/>
          </a:xfrm>
          <a:prstGeom prst="rect">
            <a:avLst/>
          </a:prstGeom>
          <a:noFill/>
          <a:ln>
            <a:solidFill>
              <a:schemeClr val="accent1">
                <a:lumMod val="50000"/>
                <a:alpha val="21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Overlay addressing: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ovid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int32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Direct destinations: </a:t>
            </a:r>
            <a:r>
              <a:rPr lang="en-US" sz="2400" i="1" dirty="0" err="1">
                <a:solidFill>
                  <a:schemeClr val="accent1">
                    <a:lumMod val="50000"/>
                  </a:schemeClr>
                </a:solidFill>
              </a:rPr>
              <a:t>ovid</a:t>
            </a:r>
            <a:r>
              <a:rPr lang="en-US" sz="2400" i="1" dirty="0">
                <a:solidFill>
                  <a:schemeClr val="accent1">
                    <a:lumMod val="50000"/>
                  </a:schemeClr>
                </a:solidFill>
              </a:rPr>
              <a:t>::</a:t>
            </a:r>
            <a:r>
              <a:rPr lang="en-US" sz="2400" i="1" dirty="0" err="1">
                <a:solidFill>
                  <a:schemeClr val="accent1">
                    <a:lumMod val="50000"/>
                  </a:schemeClr>
                </a:solidFill>
              </a:rPr>
              <a:t>mpi</a:t>
            </a:r>
            <a:r>
              <a:rPr lang="en-US" sz="2400" i="1" dirty="0">
                <a:solidFill>
                  <a:schemeClr val="accent1">
                    <a:lumMod val="50000"/>
                  </a:schemeClr>
                </a:solidFill>
              </a:rPr>
              <a:t>(0)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Special destinations</a:t>
            </a:r>
            <a:r>
              <a:rPr lang="en-US" sz="2400" i="1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en-US" sz="2400" i="1" dirty="0" err="1">
                <a:solidFill>
                  <a:schemeClr val="accent1">
                    <a:lumMod val="50000"/>
                  </a:schemeClr>
                </a:solidFill>
              </a:rPr>
              <a:t>ovid</a:t>
            </a:r>
            <a:r>
              <a:rPr lang="en-US" sz="2400" i="1" dirty="0">
                <a:solidFill>
                  <a:schemeClr val="accent1">
                    <a:lumMod val="50000"/>
                  </a:schemeClr>
                </a:solidFill>
              </a:rPr>
              <a:t>::</a:t>
            </a:r>
            <a:r>
              <a:rPr lang="en-US" sz="2400" i="1" dirty="0" err="1">
                <a:solidFill>
                  <a:schemeClr val="accent1">
                    <a:lumMod val="50000"/>
                  </a:schemeClr>
                </a:solidFill>
              </a:rPr>
              <a:t>mon</a:t>
            </a:r>
            <a:r>
              <a:rPr lang="en-US" sz="2400" i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accent1">
                    <a:lumMod val="50000"/>
                  </a:schemeClr>
                </a:solidFill>
              </a:rPr>
              <a:t>ovid</a:t>
            </a:r>
            <a:r>
              <a:rPr lang="en-US" sz="2400" i="1" dirty="0">
                <a:solidFill>
                  <a:schemeClr val="accent1">
                    <a:lumMod val="50000"/>
                  </a:schemeClr>
                </a:solidFill>
              </a:rPr>
              <a:t>::</a:t>
            </a:r>
            <a:r>
              <a:rPr lang="en-US" sz="2400" i="1" dirty="0" err="1">
                <a:solidFill>
                  <a:schemeClr val="accent1">
                    <a:lumMod val="50000"/>
                  </a:schemeClr>
                </a:solidFill>
              </a:rPr>
              <a:t>bcast</a:t>
            </a:r>
            <a:endParaRPr lang="en-US" sz="2400" i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639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40CF-5257-9C30-AEDE-D7E858CA1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Orca Flow: DSL With Nodes and Sinks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CED08-562B-250D-2527-AA3667CC7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516D7-9D01-17D3-E89A-5832786F1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9F411-CA7A-FB7C-9465-26A5360F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16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B6ECDB6-6D26-5AC3-C6E0-DC11E6991FCB}"/>
              </a:ext>
            </a:extLst>
          </p:cNvPr>
          <p:cNvGrpSpPr/>
          <p:nvPr/>
        </p:nvGrpSpPr>
        <p:grpSpPr>
          <a:xfrm>
            <a:off x="202407" y="1833261"/>
            <a:ext cx="8191163" cy="4633391"/>
            <a:chOff x="468290" y="1348309"/>
            <a:chExt cx="8191163" cy="46333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292F379-975D-DB88-6C2E-7CE416D56C74}"/>
                </a:ext>
              </a:extLst>
            </p:cNvPr>
            <p:cNvSpPr/>
            <p:nvPr/>
          </p:nvSpPr>
          <p:spPr>
            <a:xfrm>
              <a:off x="553607" y="1348309"/>
              <a:ext cx="8105846" cy="45270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8B562A44-E010-0564-28C8-978392B0DDB0}"/>
                </a:ext>
              </a:extLst>
            </p:cNvPr>
            <p:cNvSpPr txBox="1">
              <a:spLocks/>
            </p:cNvSpPr>
            <p:nvPr/>
          </p:nvSpPr>
          <p:spPr>
            <a:xfrm>
              <a:off x="468290" y="1454623"/>
              <a:ext cx="8105847" cy="4527077"/>
            </a:xfrm>
            <a:prstGeom prst="rect">
              <a:avLst/>
            </a:prstGeom>
          </p:spPr>
          <p:txBody>
            <a:bodyPr/>
            <a:lstStyle>
              <a:lvl1pPr marL="342900" indent="-336550" algn="l" defTabSz="1097280" rtl="0" eaLnBrk="1" latinLnBrk="0" hangingPunct="1">
                <a:lnSpc>
                  <a:spcPct val="90000"/>
                </a:lnSpc>
                <a:spcBef>
                  <a:spcPts val="2200"/>
                </a:spcBef>
                <a:buFont typeface="Arial" panose="020B0604020202020204" pitchFamily="34" charset="0"/>
                <a:buChar char="•"/>
                <a:tabLst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22325" indent="-417513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Courier New" panose="02070309020205020404" pitchFamily="49" charset="0"/>
                <a:buChar char="o"/>
                <a:tabLst/>
                <a:defRPr sz="2800" kern="1200">
                  <a:solidFill>
                    <a:schemeClr val="bg2">
                      <a:lumMod val="1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37160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92024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6888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1752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6616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1480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6344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>
                <a:buFont typeface="Arial" panose="020B0604020202020204" pitchFamily="34" charset="0"/>
                <a:buNone/>
              </a:pPr>
              <a:r>
                <a:rPr lang="en-US" sz="2800" dirty="0">
                  <a:solidFill>
                    <a:srgbClr val="06287E"/>
                  </a:solidFill>
                  <a:latin typeface="Courier"/>
                </a:rPr>
                <a:t>nodes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</a:t>
              </a:r>
              <a:r>
                <a:rPr lang="en-US" sz="2800" dirty="0" err="1">
                  <a:solidFill>
                    <a:srgbClr val="06287E"/>
                  </a:solidFill>
                  <a:latin typeface="Courier"/>
                </a:rPr>
                <a:t>phase_trace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  </a:t>
              </a:r>
              <a:r>
                <a:rPr lang="en-US" sz="2800" dirty="0">
                  <a:solidFill>
                    <a:srgbClr val="06287E"/>
                  </a:solidFill>
                  <a:latin typeface="Courier"/>
                </a:rPr>
                <a:t>inputs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[</a:t>
              </a:r>
              <a:r>
                <a:rPr lang="en-US" sz="2800" dirty="0" err="1">
                  <a:solidFill>
                    <a:srgbClr val="7D9029"/>
                  </a:solidFill>
                  <a:latin typeface="Courier"/>
                </a:rPr>
                <a:t>mpi_trace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]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  </a:t>
              </a:r>
              <a:r>
                <a:rPr lang="en-US" sz="2800" dirty="0">
                  <a:solidFill>
                    <a:srgbClr val="06287E"/>
                  </a:solidFill>
                  <a:latin typeface="Courier"/>
                </a:rPr>
                <a:t>map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    </a:t>
              </a:r>
              <a:r>
                <a:rPr lang="en-US" sz="2800" dirty="0" err="1">
                  <a:solidFill>
                    <a:srgbClr val="06287E"/>
                  </a:solidFill>
                  <a:latin typeface="Courier"/>
                </a:rPr>
                <a:t>map_fn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</a:t>
              </a:r>
              <a:r>
                <a:rPr lang="en-US" sz="2800" dirty="0" err="1">
                  <a:solidFill>
                    <a:srgbClr val="7D9029"/>
                  </a:solidFill>
                  <a:latin typeface="Courier"/>
                </a:rPr>
                <a:t>classify_events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    </a:t>
              </a:r>
              <a:r>
                <a:rPr lang="en-US" sz="2800" dirty="0" err="1">
                  <a:solidFill>
                    <a:srgbClr val="06287E"/>
                  </a:solidFill>
                  <a:latin typeface="Courier"/>
                </a:rPr>
                <a:t>partition_by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[</a:t>
              </a: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rank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]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</a:t>
              </a:r>
              <a:r>
                <a:rPr lang="en-US" sz="2800" dirty="0" err="1">
                  <a:solidFill>
                    <a:srgbClr val="06287E"/>
                  </a:solidFill>
                  <a:latin typeface="Courier"/>
                </a:rPr>
                <a:t>phase_anomalies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  </a:t>
              </a:r>
              <a:r>
                <a:rPr lang="en-US" sz="2800" dirty="0">
                  <a:solidFill>
                    <a:srgbClr val="06287E"/>
                  </a:solidFill>
                  <a:latin typeface="Courier"/>
                </a:rPr>
                <a:t>inputs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[</a:t>
              </a:r>
              <a:r>
                <a:rPr lang="en-US" sz="2800" dirty="0" err="1">
                  <a:solidFill>
                    <a:srgbClr val="7D9029"/>
                  </a:solidFill>
                  <a:latin typeface="Courier"/>
                </a:rPr>
                <a:t>phase_trace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]</a:t>
              </a:r>
              <a:br>
                <a:rPr lang="en-US" sz="2800" dirty="0"/>
              </a:br>
              <a:r>
                <a:rPr lang="en-US" sz="2800" dirty="0">
                  <a:solidFill>
                    <a:srgbClr val="06287E"/>
                  </a:solidFill>
                  <a:latin typeface="Courier"/>
                </a:rPr>
                <a:t>    </a:t>
              </a:r>
              <a:r>
                <a:rPr lang="en-US" sz="2800" dirty="0" err="1">
                  <a:solidFill>
                    <a:srgbClr val="06287E"/>
                  </a:solidFill>
                  <a:latin typeface="Courier"/>
                </a:rPr>
                <a:t>sql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 </a:t>
              </a:r>
              <a:r>
                <a:rPr lang="en-US" sz="2800" dirty="0">
                  <a:solidFill>
                    <a:srgbClr val="4070A0"/>
                  </a:solidFill>
                  <a:latin typeface="Courier"/>
                </a:rPr>
                <a:t>|</a:t>
              </a:r>
              <a:br>
                <a:rPr lang="en-US" sz="2800" dirty="0"/>
              </a:br>
              <a:r>
                <a:rPr lang="en-US" sz="2800" dirty="0">
                  <a:latin typeface="Courier"/>
                </a:rPr>
                <a:t>      SELECT phase FROM </a:t>
              </a:r>
              <a:r>
                <a:rPr lang="en-US" sz="2800" dirty="0" err="1">
                  <a:latin typeface="Courier"/>
                </a:rPr>
                <a:t>phase_trace</a:t>
              </a:r>
              <a:br>
                <a:rPr lang="en-US" sz="2800" dirty="0"/>
              </a:br>
              <a:r>
                <a:rPr lang="en-US" sz="2800" dirty="0">
                  <a:latin typeface="Courier"/>
                </a:rPr>
                <a:t>      WHERE duration &gt; 100 </a:t>
              </a:r>
              <a:r>
                <a:rPr lang="en-US" sz="2800" dirty="0" err="1">
                  <a:latin typeface="Courier"/>
                </a:rPr>
                <a:t>ms</a:t>
              </a:r>
              <a:endParaRPr lang="en-US" sz="2800" dirty="0">
                <a:solidFill>
                  <a:srgbClr val="7D9029"/>
                </a:solidFill>
                <a:latin typeface="Courier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6D836B-4F41-DAFC-F37D-7D189F3AB5AE}"/>
              </a:ext>
            </a:extLst>
          </p:cNvPr>
          <p:cNvGrpSpPr/>
          <p:nvPr/>
        </p:nvGrpSpPr>
        <p:grpSpPr>
          <a:xfrm>
            <a:off x="8393570" y="1589870"/>
            <a:ext cx="6056263" cy="3274729"/>
            <a:chOff x="8574137" y="1849722"/>
            <a:chExt cx="6056263" cy="327472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45DA3D-B0D9-503F-F1D9-E88C2C733294}"/>
                </a:ext>
              </a:extLst>
            </p:cNvPr>
            <p:cNvSpPr/>
            <p:nvPr/>
          </p:nvSpPr>
          <p:spPr>
            <a:xfrm>
              <a:off x="8744768" y="2099245"/>
              <a:ext cx="5715000" cy="30252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F53C5D95-DE83-B4FA-A5C2-91071662FD4E}"/>
                </a:ext>
              </a:extLst>
            </p:cNvPr>
            <p:cNvSpPr txBox="1">
              <a:spLocks/>
            </p:cNvSpPr>
            <p:nvPr/>
          </p:nvSpPr>
          <p:spPr>
            <a:xfrm>
              <a:off x="8574137" y="1849722"/>
              <a:ext cx="6056263" cy="3274728"/>
            </a:xfrm>
            <a:prstGeom prst="rect">
              <a:avLst/>
            </a:prstGeom>
          </p:spPr>
          <p:txBody>
            <a:bodyPr/>
            <a:lstStyle>
              <a:lvl1pPr marL="342900" indent="-336550" algn="l" defTabSz="1097280" rtl="0" eaLnBrk="1" latinLnBrk="0" hangingPunct="1">
                <a:lnSpc>
                  <a:spcPct val="90000"/>
                </a:lnSpc>
                <a:spcBef>
                  <a:spcPts val="2200"/>
                </a:spcBef>
                <a:buFont typeface="Arial" panose="020B0604020202020204" pitchFamily="34" charset="0"/>
                <a:buChar char="•"/>
                <a:tabLst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22325" indent="-417513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Courier New" panose="02070309020205020404" pitchFamily="49" charset="0"/>
                <a:buChar char="o"/>
                <a:tabLst/>
                <a:defRPr sz="2800" kern="1200">
                  <a:solidFill>
                    <a:schemeClr val="bg2">
                      <a:lumMod val="1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37160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92024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6888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1752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6616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1480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6344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>
                <a:buFont typeface="Arial" panose="020B0604020202020204" pitchFamily="34" charset="0"/>
                <a:buNone/>
              </a:pPr>
              <a:br>
                <a:rPr lang="en-US" sz="2800" dirty="0"/>
              </a:br>
              <a:r>
                <a:rPr lang="en-US" sz="2800" dirty="0">
                  <a:solidFill>
                    <a:srgbClr val="06287E"/>
                  </a:solidFill>
                  <a:latin typeface="Courier"/>
                </a:rPr>
                <a:t>sinks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</a:t>
              </a:r>
              <a:r>
                <a:rPr lang="en-US" sz="2800" dirty="0" err="1">
                  <a:solidFill>
                    <a:srgbClr val="06287E"/>
                  </a:solidFill>
                  <a:latin typeface="Courier"/>
                </a:rPr>
                <a:t>anomalies_sink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  </a:t>
              </a:r>
              <a:r>
                <a:rPr lang="en-US" sz="2800" dirty="0">
                  <a:solidFill>
                    <a:srgbClr val="06287E"/>
                  </a:solidFill>
                  <a:latin typeface="Courier"/>
                </a:rPr>
                <a:t>from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</a:t>
              </a:r>
              <a:r>
                <a:rPr lang="en-US" sz="2800" dirty="0" err="1">
                  <a:solidFill>
                    <a:srgbClr val="7D9029"/>
                  </a:solidFill>
                  <a:latin typeface="Courier"/>
                </a:rPr>
                <a:t>phase_anomalies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  </a:t>
              </a:r>
              <a:r>
                <a:rPr lang="en-US" sz="2800" dirty="0">
                  <a:solidFill>
                    <a:srgbClr val="06287E"/>
                  </a:solidFill>
                  <a:latin typeface="Courier"/>
                </a:rPr>
                <a:t>type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</a:t>
              </a:r>
              <a:r>
                <a:rPr lang="en-US" sz="2800" dirty="0" err="1">
                  <a:solidFill>
                    <a:srgbClr val="7D9029"/>
                  </a:solidFill>
                  <a:latin typeface="Courier"/>
                </a:rPr>
                <a:t>grafana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</a:t>
              </a:r>
              <a:r>
                <a:rPr lang="en-US" sz="2800" dirty="0" err="1">
                  <a:solidFill>
                    <a:srgbClr val="06287E"/>
                  </a:solidFill>
                  <a:latin typeface="Courier"/>
                </a:rPr>
                <a:t>phase_trace_sink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  </a:t>
              </a:r>
              <a:r>
                <a:rPr lang="en-US" sz="2800" dirty="0">
                  <a:solidFill>
                    <a:srgbClr val="06287E"/>
                  </a:solidFill>
                  <a:latin typeface="Courier"/>
                </a:rPr>
                <a:t>from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</a:t>
              </a:r>
              <a:r>
                <a:rPr lang="en-US" sz="2800" dirty="0" err="1">
                  <a:solidFill>
                    <a:srgbClr val="7D9029"/>
                  </a:solidFill>
                  <a:latin typeface="Courier"/>
                </a:rPr>
                <a:t>phase_trace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  </a:t>
              </a:r>
              <a:r>
                <a:rPr lang="en-US" sz="2800" dirty="0">
                  <a:solidFill>
                    <a:srgbClr val="06287E"/>
                  </a:solidFill>
                  <a:latin typeface="Courier"/>
                </a:rPr>
                <a:t>type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parquet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EBBA062-D285-C9AA-9E4B-8B99D5D7AC58}"/>
              </a:ext>
            </a:extLst>
          </p:cNvPr>
          <p:cNvGrpSpPr/>
          <p:nvPr/>
        </p:nvGrpSpPr>
        <p:grpSpPr>
          <a:xfrm>
            <a:off x="8714036" y="5369969"/>
            <a:ext cx="5415329" cy="2040476"/>
            <a:chOff x="936963" y="1425754"/>
            <a:chExt cx="4799298" cy="1706148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52FD2E16-6216-62C1-F73E-BA7532951DF6}"/>
                </a:ext>
              </a:extLst>
            </p:cNvPr>
            <p:cNvSpPr/>
            <p:nvPr/>
          </p:nvSpPr>
          <p:spPr>
            <a:xfrm>
              <a:off x="936963" y="1425754"/>
              <a:ext cx="4746525" cy="1706148"/>
            </a:xfrm>
            <a:prstGeom prst="roundRect">
              <a:avLst>
                <a:gd name="adj" fmla="val 4773"/>
              </a:avLst>
            </a:prstGeom>
            <a:solidFill>
              <a:srgbClr val="FFDBDB">
                <a:alpha val="1022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98FBA00-5FBB-2515-6B8A-40C98238E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1792" y="2225874"/>
              <a:ext cx="3711654" cy="853152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65BBF01-C215-079A-A40C-1C6075827DB7}"/>
                </a:ext>
              </a:extLst>
            </p:cNvPr>
            <p:cNvSpPr txBox="1"/>
            <p:nvPr/>
          </p:nvSpPr>
          <p:spPr>
            <a:xfrm>
              <a:off x="936963" y="1425755"/>
              <a:ext cx="4799298" cy="6948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Distributed Planning </a:t>
              </a:r>
              <a:b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en-US" sz="2400" b="1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(Controller, using Apache </a:t>
              </a:r>
              <a:r>
                <a:rPr lang="en-US" sz="2400" b="1" i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Datafusion</a:t>
              </a:r>
              <a:r>
                <a:rPr lang="en-US" sz="2400" b="1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4317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6F3FC-1C25-5CB2-8E59-08481EC34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Query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D5BFC-9700-325D-63DA-9AA2106C0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Datafusion</a:t>
            </a:r>
            <a:r>
              <a:rPr lang="en-US" dirty="0"/>
              <a:t>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02366-DB09-99AB-AADB-DADE6D7FA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96627-036A-3F39-76B0-B89161F18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6AE98-8F86-C933-D88B-1E41C3364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677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932A1-D42C-7E6D-4143-D458287B4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>
            <a:extLst>
              <a:ext uri="{FF2B5EF4-FFF2-40B4-BE49-F238E27FC236}">
                <a16:creationId xmlns:a16="http://schemas.microsoft.com/office/drawing/2014/main" id="{0145F4AE-6298-AE33-8A47-2099F261E77D}"/>
              </a:ext>
            </a:extLst>
          </p:cNvPr>
          <p:cNvSpPr/>
          <p:nvPr/>
        </p:nvSpPr>
        <p:spPr>
          <a:xfrm>
            <a:off x="6465680" y="3830860"/>
            <a:ext cx="561702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C281C5-B8F4-D008-4CCE-C5058C656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662" y="0"/>
            <a:ext cx="13960229" cy="1590676"/>
          </a:xfrm>
        </p:spPr>
        <p:txBody>
          <a:bodyPr/>
          <a:lstStyle/>
          <a:p>
            <a:r>
              <a:rPr lang="en-US" dirty="0"/>
              <a:t>Aggregation: Multi-Tier, Multiple </a:t>
            </a:r>
            <a:r>
              <a:rPr lang="en-US" i="1" dirty="0"/>
              <a:t>Sinks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E2350-76ED-3B47-2E84-142310ECE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14DE3-8965-5EC6-FE57-3A7840F45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EE78F-21EA-E01B-EF86-78749726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18</a:t>
            </a:fld>
            <a:endParaRPr lang="en-US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82B0BAC-6DCD-74B1-3272-C18B1B294EB9}"/>
              </a:ext>
            </a:extLst>
          </p:cNvPr>
          <p:cNvGrpSpPr/>
          <p:nvPr/>
        </p:nvGrpSpPr>
        <p:grpSpPr>
          <a:xfrm>
            <a:off x="9745326" y="1295914"/>
            <a:ext cx="3465115" cy="1598172"/>
            <a:chOff x="7220460" y="803845"/>
            <a:chExt cx="3465115" cy="1598172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CC258BF-DBA6-290D-33D5-199C60F974EC}"/>
                </a:ext>
              </a:extLst>
            </p:cNvPr>
            <p:cNvGrpSpPr/>
            <p:nvPr/>
          </p:nvGrpSpPr>
          <p:grpSpPr>
            <a:xfrm>
              <a:off x="7513714" y="1488292"/>
              <a:ext cx="2878609" cy="913725"/>
              <a:chOff x="5763506" y="5900462"/>
              <a:chExt cx="2878609" cy="913725"/>
            </a:xfrm>
          </p:grpSpPr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FC2B4493-9BE9-10DF-DBD0-9ADA32D104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66694" y="6187674"/>
                <a:ext cx="1683090" cy="626513"/>
              </a:xfrm>
              <a:prstGeom prst="rect">
                <a:avLst/>
              </a:prstGeom>
            </p:spPr>
          </p:pic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3C171559-57B2-67D3-F592-8AB6D04D43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15799" y="6202807"/>
                <a:ext cx="711200" cy="571500"/>
              </a:xfrm>
              <a:prstGeom prst="rect">
                <a:avLst/>
              </a:prstGeom>
            </p:spPr>
          </p:pic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A2707DD-B85B-A26B-9D4E-94DB5217BB7D}"/>
                  </a:ext>
                </a:extLst>
              </p:cNvPr>
              <p:cNvSpPr txBox="1"/>
              <p:nvPr/>
            </p:nvSpPr>
            <p:spPr>
              <a:xfrm>
                <a:off x="5763506" y="5900462"/>
                <a:ext cx="287860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i="1" dirty="0">
                    <a:solidFill>
                      <a:schemeClr val="accent2">
                        <a:lumMod val="50000"/>
                        <a:alpha val="90000"/>
                      </a:schemeClr>
                    </a:solidFill>
                  </a:rPr>
                  <a:t>stream</a:t>
                </a:r>
                <a:r>
                  <a:rPr lang="en-US" sz="1400" dirty="0">
                    <a:solidFill>
                      <a:schemeClr val="accent2">
                        <a:lumMod val="50000"/>
                        <a:alpha val="90000"/>
                      </a:schemeClr>
                    </a:solidFill>
                  </a:rPr>
                  <a:t>: </a:t>
                </a:r>
                <a:r>
                  <a:rPr lang="en-US" sz="1400" dirty="0" err="1">
                    <a:solidFill>
                      <a:schemeClr val="accent2">
                        <a:lumMod val="50000"/>
                        <a:alpha val="90000"/>
                      </a:schemeClr>
                    </a:solidFill>
                  </a:rPr>
                  <a:t>mpitrace</a:t>
                </a:r>
                <a:r>
                  <a:rPr lang="en-US" sz="1400" dirty="0">
                    <a:solidFill>
                      <a:schemeClr val="accent2">
                        <a:lumMod val="50000"/>
                        <a:alpha val="90000"/>
                      </a:schemeClr>
                    </a:solidFill>
                  </a:rPr>
                  <a:t>, </a:t>
                </a:r>
                <a:r>
                  <a:rPr lang="en-US" sz="1400" b="1" i="1" dirty="0">
                    <a:solidFill>
                      <a:schemeClr val="accent2">
                        <a:lumMod val="50000"/>
                        <a:alpha val="90000"/>
                      </a:schemeClr>
                    </a:solidFill>
                  </a:rPr>
                  <a:t>timesteps</a:t>
                </a:r>
                <a:r>
                  <a:rPr lang="en-US" sz="1400" dirty="0">
                    <a:solidFill>
                      <a:schemeClr val="accent2">
                        <a:lumMod val="50000"/>
                        <a:alpha val="90000"/>
                      </a:schemeClr>
                    </a:solidFill>
                  </a:rPr>
                  <a:t>: 0-10</a:t>
                </a: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AEB1585-2E62-1095-015F-40D563030CA0}"/>
                </a:ext>
              </a:extLst>
            </p:cNvPr>
            <p:cNvSpPr txBox="1"/>
            <p:nvPr/>
          </p:nvSpPr>
          <p:spPr>
            <a:xfrm>
              <a:off x="7220460" y="803845"/>
              <a:ext cx="346511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</a:rPr>
                <a:t>Parquet (</a:t>
              </a:r>
              <a:r>
                <a:rPr lang="en-US" sz="2000" b="1" i="1" dirty="0">
                  <a:solidFill>
                    <a:schemeClr val="accent2">
                      <a:lumMod val="50000"/>
                    </a:schemeClr>
                  </a:solidFill>
                </a:rPr>
                <a:t>Sink</a:t>
              </a:r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</a:rPr>
                <a:t>)</a:t>
              </a:r>
            </a:p>
            <a:p>
              <a:pPr algn="ctr"/>
              <a:r>
                <a: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timestep and rank-partitioned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155654F-6514-B9F7-E6D4-98B73CB25200}"/>
              </a:ext>
            </a:extLst>
          </p:cNvPr>
          <p:cNvGrpSpPr/>
          <p:nvPr/>
        </p:nvGrpSpPr>
        <p:grpSpPr>
          <a:xfrm>
            <a:off x="3309960" y="3112494"/>
            <a:ext cx="3180108" cy="707886"/>
            <a:chOff x="2967271" y="2042601"/>
            <a:chExt cx="3180108" cy="707886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16185C99-B73E-8785-74A8-C3908FB9801E}"/>
                </a:ext>
              </a:extLst>
            </p:cNvPr>
            <p:cNvGrpSpPr/>
            <p:nvPr/>
          </p:nvGrpSpPr>
          <p:grpSpPr>
            <a:xfrm>
              <a:off x="5436320" y="2140763"/>
              <a:ext cx="711059" cy="534520"/>
              <a:chOff x="10447952" y="2271000"/>
              <a:chExt cx="876088" cy="658577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2795AF84-8679-9126-BA67-7A0A665DC193}"/>
                  </a:ext>
                </a:extLst>
              </p:cNvPr>
              <p:cNvSpPr/>
              <p:nvPr/>
            </p:nvSpPr>
            <p:spPr>
              <a:xfrm>
                <a:off x="10447952" y="2271000"/>
                <a:ext cx="876088" cy="6585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7581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1" name="Picture 2" descr="DuckDB - Wikipedia">
                <a:extLst>
                  <a:ext uri="{FF2B5EF4-FFF2-40B4-BE49-F238E27FC236}">
                    <a16:creationId xmlns:a16="http://schemas.microsoft.com/office/drawing/2014/main" id="{23FC775E-5623-7BF2-400D-44DD16D11C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47313" y="2363256"/>
                <a:ext cx="601618" cy="4632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3AA0211-063F-509B-3DEB-D96073842CD6}"/>
                </a:ext>
              </a:extLst>
            </p:cNvPr>
            <p:cNvSpPr txBox="1"/>
            <p:nvPr/>
          </p:nvSpPr>
          <p:spPr>
            <a:xfrm>
              <a:off x="2967271" y="2042601"/>
              <a:ext cx="244810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000" b="1" i="1" dirty="0">
                  <a:solidFill>
                    <a:schemeClr val="accent2">
                      <a:lumMod val="50000"/>
                    </a:schemeClr>
                  </a:solidFill>
                </a:rPr>
                <a:t>Embedded DuckDB</a:t>
              </a:r>
            </a:p>
            <a:p>
              <a:pPr algn="r"/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</a:rPr>
                <a:t>(</a:t>
              </a:r>
              <a:r>
                <a:rPr lang="en-US" sz="2000" b="1" i="1" dirty="0">
                  <a:solidFill>
                    <a:schemeClr val="accent2">
                      <a:lumMod val="50000"/>
                    </a:schemeClr>
                  </a:solidFill>
                </a:rPr>
                <a:t>Sink</a:t>
              </a:r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</a:rPr>
                <a:t>)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18F4928-16E6-8017-0C0A-BE9D0630209F}"/>
              </a:ext>
            </a:extLst>
          </p:cNvPr>
          <p:cNvGrpSpPr/>
          <p:nvPr/>
        </p:nvGrpSpPr>
        <p:grpSpPr>
          <a:xfrm>
            <a:off x="7286578" y="1855604"/>
            <a:ext cx="1348059" cy="815349"/>
            <a:chOff x="11008529" y="1987248"/>
            <a:chExt cx="1710079" cy="1024005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F468C95-444F-30F8-C3EB-EB169BBA5C06}"/>
                </a:ext>
              </a:extLst>
            </p:cNvPr>
            <p:cNvSpPr/>
            <p:nvPr/>
          </p:nvSpPr>
          <p:spPr>
            <a:xfrm>
              <a:off x="11008529" y="1987248"/>
              <a:ext cx="1710079" cy="1024005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26000"/>
              </a:schemeClr>
            </a:solidFill>
            <a:ln>
              <a:solidFill>
                <a:srgbClr val="5F27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pic>
          <p:nvPicPr>
            <p:cNvPr id="106" name="Picture 4" descr="Grafana - Wikipedia">
              <a:extLst>
                <a:ext uri="{FF2B5EF4-FFF2-40B4-BE49-F238E27FC236}">
                  <a16:creationId xmlns:a16="http://schemas.microsoft.com/office/drawing/2014/main" id="{FF372CCA-6646-A7A3-59DE-D1E00E29C1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28005" y="2119295"/>
              <a:ext cx="754024" cy="770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" name="Graphic 106" descr="Bar graph with upward trend with solid fill">
              <a:extLst>
                <a:ext uri="{FF2B5EF4-FFF2-40B4-BE49-F238E27FC236}">
                  <a16:creationId xmlns:a16="http://schemas.microsoft.com/office/drawing/2014/main" id="{4983B12F-3A67-8E20-9301-12683F1A93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079362" y="2517350"/>
              <a:ext cx="474043" cy="474043"/>
            </a:xfrm>
            <a:prstGeom prst="rect">
              <a:avLst/>
            </a:prstGeom>
          </p:spPr>
        </p:pic>
        <p:pic>
          <p:nvPicPr>
            <p:cNvPr id="108" name="Graphic 107" descr="Periodic Graph with solid fill">
              <a:extLst>
                <a:ext uri="{FF2B5EF4-FFF2-40B4-BE49-F238E27FC236}">
                  <a16:creationId xmlns:a16="http://schemas.microsoft.com/office/drawing/2014/main" id="{C2F3F146-A35D-77B4-E8F6-10CBA54F4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037234" y="1989907"/>
              <a:ext cx="566057" cy="566057"/>
            </a:xfrm>
            <a:prstGeom prst="rect">
              <a:avLst/>
            </a:prstGeom>
          </p:spPr>
        </p:pic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51772E6D-31DA-93BE-B2AC-F8B2FC08DC98}"/>
              </a:ext>
            </a:extLst>
          </p:cNvPr>
          <p:cNvSpPr txBox="1"/>
          <p:nvPr/>
        </p:nvSpPr>
        <p:spPr>
          <a:xfrm>
            <a:off x="4790615" y="2183747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FlightSQL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203FB23-5159-59C5-EBC5-349CC34F7ABB}"/>
              </a:ext>
            </a:extLst>
          </p:cNvPr>
          <p:cNvSpPr/>
          <p:nvPr/>
        </p:nvSpPr>
        <p:spPr>
          <a:xfrm>
            <a:off x="7224915" y="4481484"/>
            <a:ext cx="561702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CCB7A0-55AB-F3ED-B280-BF678DA7AC1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9173" y="3661545"/>
            <a:ext cx="8268788" cy="3521630"/>
          </a:xfrm>
          <a:prstGeom prst="rect">
            <a:avLst/>
          </a:prstGeom>
        </p:spPr>
      </p:pic>
      <p:pic>
        <p:nvPicPr>
          <p:cNvPr id="163" name="Graphic 162">
            <a:extLst>
              <a:ext uri="{FF2B5EF4-FFF2-40B4-BE49-F238E27FC236}">
                <a16:creationId xmlns:a16="http://schemas.microsoft.com/office/drawing/2014/main" id="{33B4CC52-8B94-653E-0A54-CDADF20D0FA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03003" y="7183175"/>
            <a:ext cx="305301" cy="416319"/>
          </a:xfrm>
          <a:prstGeom prst="rect">
            <a:avLst/>
          </a:prstGeom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45A2BCC3-9DA8-5B8A-7DF2-09AD41517DD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23685" y="6259299"/>
            <a:ext cx="1920407" cy="637058"/>
          </a:xfrm>
          <a:prstGeom prst="rect">
            <a:avLst/>
          </a:prstGeom>
        </p:spPr>
      </p:pic>
      <p:pic>
        <p:nvPicPr>
          <p:cNvPr id="179" name="Picture 178">
            <a:extLst>
              <a:ext uri="{FF2B5EF4-FFF2-40B4-BE49-F238E27FC236}">
                <a16:creationId xmlns:a16="http://schemas.microsoft.com/office/drawing/2014/main" id="{F63B379F-2DC1-DCC3-64C9-B8F439DE296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23685" y="5375445"/>
            <a:ext cx="1920407" cy="637058"/>
          </a:xfrm>
          <a:prstGeom prst="rect">
            <a:avLst/>
          </a:prstGeom>
        </p:spPr>
      </p:pic>
      <p:pic>
        <p:nvPicPr>
          <p:cNvPr id="180" name="Picture 179">
            <a:extLst>
              <a:ext uri="{FF2B5EF4-FFF2-40B4-BE49-F238E27FC236}">
                <a16:creationId xmlns:a16="http://schemas.microsoft.com/office/drawing/2014/main" id="{F58817A7-CC97-2490-4D0F-1BA11AA49AE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19876" y="4446621"/>
            <a:ext cx="1920407" cy="637058"/>
          </a:xfrm>
          <a:prstGeom prst="rect">
            <a:avLst/>
          </a:prstGeom>
        </p:spPr>
      </p:pic>
      <p:pic>
        <p:nvPicPr>
          <p:cNvPr id="181" name="Picture 180">
            <a:extLst>
              <a:ext uri="{FF2B5EF4-FFF2-40B4-BE49-F238E27FC236}">
                <a16:creationId xmlns:a16="http://schemas.microsoft.com/office/drawing/2014/main" id="{9372C881-8AF9-9B9E-E540-7E4D2FE2256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19876" y="3553144"/>
            <a:ext cx="1920407" cy="637058"/>
          </a:xfrm>
          <a:prstGeom prst="rect">
            <a:avLst/>
          </a:prstGeom>
        </p:spPr>
      </p:pic>
      <p:grpSp>
        <p:nvGrpSpPr>
          <p:cNvPr id="241" name="Group 240">
            <a:extLst>
              <a:ext uri="{FF2B5EF4-FFF2-40B4-BE49-F238E27FC236}">
                <a16:creationId xmlns:a16="http://schemas.microsoft.com/office/drawing/2014/main" id="{52715011-B7A7-298B-11D4-C526EB0925D3}"/>
              </a:ext>
            </a:extLst>
          </p:cNvPr>
          <p:cNvGrpSpPr/>
          <p:nvPr/>
        </p:nvGrpSpPr>
        <p:grpSpPr>
          <a:xfrm>
            <a:off x="410815" y="1256898"/>
            <a:ext cx="4125730" cy="1833576"/>
            <a:chOff x="936963" y="1298326"/>
            <a:chExt cx="4125730" cy="1833576"/>
          </a:xfrm>
        </p:grpSpPr>
        <p:sp>
          <p:nvSpPr>
            <p:cNvPr id="239" name="Rounded Rectangle 238">
              <a:extLst>
                <a:ext uri="{FF2B5EF4-FFF2-40B4-BE49-F238E27FC236}">
                  <a16:creationId xmlns:a16="http://schemas.microsoft.com/office/drawing/2014/main" id="{FDCF155D-D5FA-905D-13C2-1C1DD18D72EC}"/>
                </a:ext>
              </a:extLst>
            </p:cNvPr>
            <p:cNvSpPr/>
            <p:nvPr/>
          </p:nvSpPr>
          <p:spPr>
            <a:xfrm>
              <a:off x="936963" y="1298326"/>
              <a:ext cx="4125730" cy="1833576"/>
            </a:xfrm>
            <a:prstGeom prst="roundRect">
              <a:avLst>
                <a:gd name="adj" fmla="val 4773"/>
              </a:avLst>
            </a:prstGeom>
            <a:solidFill>
              <a:srgbClr val="FFDBDB">
                <a:alpha val="1022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8" name="Picture 237">
              <a:extLst>
                <a:ext uri="{FF2B5EF4-FFF2-40B4-BE49-F238E27FC236}">
                  <a16:creationId xmlns:a16="http://schemas.microsoft.com/office/drawing/2014/main" id="{CFCD7A78-9755-ACB6-F2DA-0405620BC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41792" y="2225874"/>
              <a:ext cx="3711654" cy="853152"/>
            </a:xfrm>
            <a:prstGeom prst="rect">
              <a:avLst/>
            </a:prstGeom>
          </p:spPr>
        </p:pic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5F41A734-ED4F-B6F9-5B92-1134112DAA88}"/>
                </a:ext>
              </a:extLst>
            </p:cNvPr>
            <p:cNvSpPr txBox="1"/>
            <p:nvPr/>
          </p:nvSpPr>
          <p:spPr>
            <a:xfrm>
              <a:off x="936963" y="1298326"/>
              <a:ext cx="262905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Distributed Planning </a:t>
              </a:r>
            </a:p>
            <a:p>
              <a:r>
                <a:rPr lang="en-US" sz="2000" b="1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(Controller)</a:t>
              </a:r>
            </a:p>
          </p:txBody>
        </p:sp>
      </p:grpSp>
      <p:sp>
        <p:nvSpPr>
          <p:cNvPr id="248" name="TextBox 247">
            <a:extLst>
              <a:ext uri="{FF2B5EF4-FFF2-40B4-BE49-F238E27FC236}">
                <a16:creationId xmlns:a16="http://schemas.microsoft.com/office/drawing/2014/main" id="{511972F5-FE96-8B68-4D29-676238001E25}"/>
              </a:ext>
            </a:extLst>
          </p:cNvPr>
          <p:cNvSpPr txBox="1"/>
          <p:nvPr/>
        </p:nvSpPr>
        <p:spPr>
          <a:xfrm>
            <a:off x="6932602" y="1435610"/>
            <a:ext cx="19897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Live Dashboard</a:t>
            </a:r>
          </a:p>
        </p:txBody>
      </p:sp>
      <p:cxnSp>
        <p:nvCxnSpPr>
          <p:cNvPr id="250" name="Elbow Connector 249">
            <a:extLst>
              <a:ext uri="{FF2B5EF4-FFF2-40B4-BE49-F238E27FC236}">
                <a16:creationId xmlns:a16="http://schemas.microsoft.com/office/drawing/2014/main" id="{A769C1D5-BAD5-3BCF-7BA7-0A1FDC4D6306}"/>
              </a:ext>
            </a:extLst>
          </p:cNvPr>
          <p:cNvCxnSpPr>
            <a:cxnSpLocks/>
            <a:stCxn id="100" idx="0"/>
            <a:endCxn id="105" idx="1"/>
          </p:cNvCxnSpPr>
          <p:nvPr/>
        </p:nvCxnSpPr>
        <p:spPr>
          <a:xfrm rot="5400000" flipH="1" flipV="1">
            <a:off x="6236870" y="2160949"/>
            <a:ext cx="947377" cy="1152039"/>
          </a:xfrm>
          <a:prstGeom prst="bentConnector2">
            <a:avLst/>
          </a:prstGeom>
          <a:ln w="15875">
            <a:solidFill>
              <a:schemeClr val="accent2">
                <a:lumMod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6E771F1D-D2F0-D9A1-D49E-61684C1FB6FC}"/>
              </a:ext>
            </a:extLst>
          </p:cNvPr>
          <p:cNvCxnSpPr>
            <a:cxnSpLocks/>
          </p:cNvCxnSpPr>
          <p:nvPr/>
        </p:nvCxnSpPr>
        <p:spPr>
          <a:xfrm flipV="1">
            <a:off x="10295589" y="6955807"/>
            <a:ext cx="415216" cy="187346"/>
          </a:xfrm>
          <a:prstGeom prst="straightConnector1">
            <a:avLst/>
          </a:prstGeom>
          <a:ln>
            <a:solidFill>
              <a:srgbClr val="9A30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29255AF1-87A7-DB1A-BD91-2ED79A7BCCE1}"/>
              </a:ext>
            </a:extLst>
          </p:cNvPr>
          <p:cNvCxnSpPr>
            <a:cxnSpLocks/>
          </p:cNvCxnSpPr>
          <p:nvPr/>
        </p:nvCxnSpPr>
        <p:spPr>
          <a:xfrm flipV="1">
            <a:off x="11580079" y="3008608"/>
            <a:ext cx="0" cy="42609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Elbow Connector 264">
            <a:extLst>
              <a:ext uri="{FF2B5EF4-FFF2-40B4-BE49-F238E27FC236}">
                <a16:creationId xmlns:a16="http://schemas.microsoft.com/office/drawing/2014/main" id="{E8EF29CF-FBF4-1913-1A9C-FB4B62E0DFA4}"/>
              </a:ext>
            </a:extLst>
          </p:cNvPr>
          <p:cNvCxnSpPr>
            <a:cxnSpLocks/>
          </p:cNvCxnSpPr>
          <p:nvPr/>
        </p:nvCxnSpPr>
        <p:spPr>
          <a:xfrm rot="10800000">
            <a:off x="12928138" y="2530584"/>
            <a:ext cx="378108" cy="2184320"/>
          </a:xfrm>
          <a:prstGeom prst="bentConnector3">
            <a:avLst>
              <a:gd name="adj1" fmla="val -85546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TextBox 265">
            <a:extLst>
              <a:ext uri="{FF2B5EF4-FFF2-40B4-BE49-F238E27FC236}">
                <a16:creationId xmlns:a16="http://schemas.microsoft.com/office/drawing/2014/main" id="{D1AD5092-F137-DBAA-7DFB-92C39CFE4157}"/>
              </a:ext>
            </a:extLst>
          </p:cNvPr>
          <p:cNvSpPr txBox="1"/>
          <p:nvPr/>
        </p:nvSpPr>
        <p:spPr>
          <a:xfrm>
            <a:off x="12567027" y="3668662"/>
            <a:ext cx="579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CTL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C8D99C85-6402-5D25-7E1F-0EEE6BDB0C99}"/>
              </a:ext>
            </a:extLst>
          </p:cNvPr>
          <p:cNvSpPr txBox="1"/>
          <p:nvPr/>
        </p:nvSpPr>
        <p:spPr>
          <a:xfrm>
            <a:off x="12567027" y="4575066"/>
            <a:ext cx="65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AGG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634503D9-C7E8-F576-A14E-30F554B8F36D}"/>
              </a:ext>
            </a:extLst>
          </p:cNvPr>
          <p:cNvSpPr txBox="1"/>
          <p:nvPr/>
        </p:nvSpPr>
        <p:spPr>
          <a:xfrm>
            <a:off x="12566706" y="636532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MPI</a:t>
            </a:r>
          </a:p>
        </p:txBody>
      </p: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867A9EEC-B58A-E06B-BB13-E197EFE12EBD}"/>
              </a:ext>
            </a:extLst>
          </p:cNvPr>
          <p:cNvGrpSpPr/>
          <p:nvPr/>
        </p:nvGrpSpPr>
        <p:grpSpPr>
          <a:xfrm>
            <a:off x="11377237" y="5988951"/>
            <a:ext cx="405683" cy="256419"/>
            <a:chOff x="11580079" y="7104245"/>
            <a:chExt cx="405683" cy="256419"/>
          </a:xfrm>
        </p:grpSpPr>
        <p:cxnSp>
          <p:nvCxnSpPr>
            <p:cNvPr id="259" name="Straight Arrow Connector 258">
              <a:extLst>
                <a:ext uri="{FF2B5EF4-FFF2-40B4-BE49-F238E27FC236}">
                  <a16:creationId xmlns:a16="http://schemas.microsoft.com/office/drawing/2014/main" id="{281C17D8-F688-0F15-CBE0-72601C69AA43}"/>
                </a:ext>
              </a:extLst>
            </p:cNvPr>
            <p:cNvCxnSpPr/>
            <p:nvPr/>
          </p:nvCxnSpPr>
          <p:spPr>
            <a:xfrm flipV="1">
              <a:off x="11807085" y="7104245"/>
              <a:ext cx="0" cy="256419"/>
            </a:xfrm>
            <a:prstGeom prst="straightConnector1">
              <a:avLst/>
            </a:prstGeom>
            <a:ln>
              <a:solidFill>
                <a:srgbClr val="9A303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205469BB-385F-94F3-E499-75F559D71F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0079" y="7109551"/>
              <a:ext cx="168367" cy="121809"/>
            </a:xfrm>
            <a:prstGeom prst="straightConnector1">
              <a:avLst/>
            </a:prstGeom>
            <a:ln>
              <a:solidFill>
                <a:srgbClr val="9A303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49202D20-0931-910E-128C-B320A5650A8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1840674" y="7127524"/>
              <a:ext cx="168367" cy="121809"/>
            </a:xfrm>
            <a:prstGeom prst="straightConnector1">
              <a:avLst/>
            </a:prstGeom>
            <a:ln>
              <a:solidFill>
                <a:srgbClr val="9A303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A14CD97C-F3A3-27A9-0568-9F2C62B22517}"/>
              </a:ext>
            </a:extLst>
          </p:cNvPr>
          <p:cNvGrpSpPr/>
          <p:nvPr/>
        </p:nvGrpSpPr>
        <p:grpSpPr>
          <a:xfrm>
            <a:off x="11377237" y="5074056"/>
            <a:ext cx="405683" cy="256419"/>
            <a:chOff x="11580079" y="7104245"/>
            <a:chExt cx="405683" cy="256419"/>
          </a:xfrm>
        </p:grpSpPr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28C69031-E34B-AE07-3617-530435FCCB56}"/>
                </a:ext>
              </a:extLst>
            </p:cNvPr>
            <p:cNvCxnSpPr/>
            <p:nvPr/>
          </p:nvCxnSpPr>
          <p:spPr>
            <a:xfrm flipV="1">
              <a:off x="11807085" y="7104245"/>
              <a:ext cx="0" cy="256419"/>
            </a:xfrm>
            <a:prstGeom prst="straightConnector1">
              <a:avLst/>
            </a:prstGeom>
            <a:ln>
              <a:solidFill>
                <a:srgbClr val="9A303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F407E26A-9D53-1BDB-0F37-612A6B488F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0079" y="7109551"/>
              <a:ext cx="168367" cy="121809"/>
            </a:xfrm>
            <a:prstGeom prst="straightConnector1">
              <a:avLst/>
            </a:prstGeom>
            <a:ln>
              <a:solidFill>
                <a:srgbClr val="9A303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74BFF5B3-80FA-5838-9C0B-CA2720889AB6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1840674" y="7127524"/>
              <a:ext cx="168367" cy="121809"/>
            </a:xfrm>
            <a:prstGeom prst="straightConnector1">
              <a:avLst/>
            </a:prstGeom>
            <a:ln>
              <a:solidFill>
                <a:srgbClr val="9A303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D96F0842-AFAE-61F1-04BC-69A38A905D39}"/>
              </a:ext>
            </a:extLst>
          </p:cNvPr>
          <p:cNvGrpSpPr/>
          <p:nvPr/>
        </p:nvGrpSpPr>
        <p:grpSpPr>
          <a:xfrm>
            <a:off x="11377237" y="4159667"/>
            <a:ext cx="405683" cy="256419"/>
            <a:chOff x="11580079" y="7104245"/>
            <a:chExt cx="405683" cy="256419"/>
          </a:xfrm>
        </p:grpSpPr>
        <p:cxnSp>
          <p:nvCxnSpPr>
            <p:cNvPr id="284" name="Straight Arrow Connector 283">
              <a:extLst>
                <a:ext uri="{FF2B5EF4-FFF2-40B4-BE49-F238E27FC236}">
                  <a16:creationId xmlns:a16="http://schemas.microsoft.com/office/drawing/2014/main" id="{FD5F0FBC-F422-F536-663E-739426931CCA}"/>
                </a:ext>
              </a:extLst>
            </p:cNvPr>
            <p:cNvCxnSpPr/>
            <p:nvPr/>
          </p:nvCxnSpPr>
          <p:spPr>
            <a:xfrm flipV="1">
              <a:off x="11807085" y="7104245"/>
              <a:ext cx="0" cy="256419"/>
            </a:xfrm>
            <a:prstGeom prst="straightConnector1">
              <a:avLst/>
            </a:prstGeom>
            <a:ln>
              <a:solidFill>
                <a:srgbClr val="9A303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C3535C15-E84E-4FDD-369A-CD201EE8F9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0079" y="7109551"/>
              <a:ext cx="168367" cy="121809"/>
            </a:xfrm>
            <a:prstGeom prst="straightConnector1">
              <a:avLst/>
            </a:prstGeom>
            <a:ln>
              <a:solidFill>
                <a:srgbClr val="9A303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E91EA1F5-2533-0EAD-2CF6-2933D92A54DD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1840674" y="7127524"/>
              <a:ext cx="168367" cy="121809"/>
            </a:xfrm>
            <a:prstGeom prst="straightConnector1">
              <a:avLst/>
            </a:prstGeom>
            <a:ln>
              <a:solidFill>
                <a:srgbClr val="9A303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9" name="Elbow Connector 288">
            <a:extLst>
              <a:ext uri="{FF2B5EF4-FFF2-40B4-BE49-F238E27FC236}">
                <a16:creationId xmlns:a16="http://schemas.microsoft.com/office/drawing/2014/main" id="{3D6FD8FD-A7DD-353E-EDD5-EA1603A1CA28}"/>
              </a:ext>
            </a:extLst>
          </p:cNvPr>
          <p:cNvCxnSpPr>
            <a:cxnSpLocks/>
          </p:cNvCxnSpPr>
          <p:nvPr/>
        </p:nvCxnSpPr>
        <p:spPr>
          <a:xfrm rot="10800000">
            <a:off x="7173505" y="3442967"/>
            <a:ext cx="3018635" cy="456365"/>
          </a:xfrm>
          <a:prstGeom prst="bentConnector3">
            <a:avLst>
              <a:gd name="adj1" fmla="val 50000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TextBox 292">
            <a:extLst>
              <a:ext uri="{FF2B5EF4-FFF2-40B4-BE49-F238E27FC236}">
                <a16:creationId xmlns:a16="http://schemas.microsoft.com/office/drawing/2014/main" id="{E13D8BA8-8AD2-B905-98B9-81C225788B2F}"/>
              </a:ext>
            </a:extLst>
          </p:cNvPr>
          <p:cNvSpPr txBox="1"/>
          <p:nvPr/>
        </p:nvSpPr>
        <p:spPr>
          <a:xfrm>
            <a:off x="12566386" y="5509308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MPIREP</a:t>
            </a:r>
          </a:p>
        </p:txBody>
      </p:sp>
    </p:spTree>
    <p:extLst>
      <p:ext uri="{BB962C8B-B14F-4D97-AF65-F5344CB8AC3E}">
        <p14:creationId xmlns:p14="http://schemas.microsoft.com/office/powerpoint/2010/main" val="3020504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ounded Rectangle 188">
            <a:extLst>
              <a:ext uri="{FF2B5EF4-FFF2-40B4-BE49-F238E27FC236}">
                <a16:creationId xmlns:a16="http://schemas.microsoft.com/office/drawing/2014/main" id="{370E3D3E-4356-59E5-9929-E8994AAEFFD9}"/>
              </a:ext>
            </a:extLst>
          </p:cNvPr>
          <p:cNvSpPr/>
          <p:nvPr/>
        </p:nvSpPr>
        <p:spPr>
          <a:xfrm>
            <a:off x="8496822" y="3084933"/>
            <a:ext cx="4847969" cy="4545591"/>
          </a:xfrm>
          <a:prstGeom prst="roundRect">
            <a:avLst>
              <a:gd name="adj" fmla="val 2160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124C1EC-5DEC-491A-09B2-2582E2354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 Preserves Ordering and Partitioning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ABA4A1-EB55-3735-C3B3-0D515BAFE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960BB-A0AC-DB4C-8009-6FD1AE11AAB7}" type="datetime4">
              <a:rPr lang="en-US" smtClean="0"/>
              <a:t>August 15,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68990-718A-A940-90D8-FF6F7CD8D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1E19C-737C-A045-3F3D-70B66E34B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t>19</a:t>
            </a:fld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09A9BE-5F73-5278-218A-91AF5BE19FAE}"/>
              </a:ext>
            </a:extLst>
          </p:cNvPr>
          <p:cNvSpPr txBox="1"/>
          <p:nvPr/>
        </p:nvSpPr>
        <p:spPr>
          <a:xfrm>
            <a:off x="5874255" y="1235078"/>
            <a:ext cx="82489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Partition count configured at bootstrap (~local parallelism)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Never repartitioned or shuffled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In-memory pipeline fragile, should persist ASAP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Postprocessing for subsequent stages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F6A7BD4F-89C3-5239-0A2E-820D9445E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067" y="3619840"/>
            <a:ext cx="2379450" cy="659848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470A875F-EA46-CBCF-4730-A2AEB8E5C69A}"/>
              </a:ext>
            </a:extLst>
          </p:cNvPr>
          <p:cNvSpPr txBox="1"/>
          <p:nvPr/>
        </p:nvSpPr>
        <p:spPr>
          <a:xfrm>
            <a:off x="506252" y="4274939"/>
            <a:ext cx="66452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AutoNum type="arabicPeriod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Leaf ranks emit one table as partitioned data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9B35F401-3648-10FA-871D-DE7F4EFA9228}"/>
              </a:ext>
            </a:extLst>
          </p:cNvPr>
          <p:cNvGrpSpPr/>
          <p:nvPr/>
        </p:nvGrpSpPr>
        <p:grpSpPr>
          <a:xfrm>
            <a:off x="778073" y="5136446"/>
            <a:ext cx="6364156" cy="1380654"/>
            <a:chOff x="567026" y="5400284"/>
            <a:chExt cx="6364156" cy="1380654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7A9CA34E-4B84-0091-9B84-8EE7D0673854}"/>
                </a:ext>
              </a:extLst>
            </p:cNvPr>
            <p:cNvGrpSpPr/>
            <p:nvPr/>
          </p:nvGrpSpPr>
          <p:grpSpPr>
            <a:xfrm>
              <a:off x="567026" y="5400284"/>
              <a:ext cx="2993148" cy="1380654"/>
              <a:chOff x="7685045" y="4052010"/>
              <a:chExt cx="2993148" cy="1380654"/>
            </a:xfrm>
          </p:grpSpPr>
          <p:pic>
            <p:nvPicPr>
              <p:cNvPr id="93" name="Picture 92">
                <a:extLst>
                  <a:ext uri="{FF2B5EF4-FFF2-40B4-BE49-F238E27FC236}">
                    <a16:creationId xmlns:a16="http://schemas.microsoft.com/office/drawing/2014/main" id="{FACFC612-2861-E04B-C75A-B0173E4C20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85045" y="4052010"/>
                <a:ext cx="2535948" cy="923454"/>
              </a:xfrm>
              <a:prstGeom prst="rect">
                <a:avLst/>
              </a:prstGeom>
            </p:spPr>
          </p:pic>
          <p:pic>
            <p:nvPicPr>
              <p:cNvPr id="94" name="Picture 93">
                <a:extLst>
                  <a:ext uri="{FF2B5EF4-FFF2-40B4-BE49-F238E27FC236}">
                    <a16:creationId xmlns:a16="http://schemas.microsoft.com/office/drawing/2014/main" id="{574EA8F8-A54C-909D-F782-38D74EF9E6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37445" y="4204410"/>
                <a:ext cx="2535948" cy="923454"/>
              </a:xfrm>
              <a:prstGeom prst="rect">
                <a:avLst/>
              </a:prstGeom>
            </p:spPr>
          </p:pic>
          <p:pic>
            <p:nvPicPr>
              <p:cNvPr id="95" name="Picture 94">
                <a:extLst>
                  <a:ext uri="{FF2B5EF4-FFF2-40B4-BE49-F238E27FC236}">
                    <a16:creationId xmlns:a16="http://schemas.microsoft.com/office/drawing/2014/main" id="{84D83CA6-80FD-584C-5027-2DC339DC90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89845" y="4356810"/>
                <a:ext cx="2535948" cy="923454"/>
              </a:xfrm>
              <a:prstGeom prst="rect">
                <a:avLst/>
              </a:prstGeom>
            </p:spPr>
          </p:pic>
          <p:pic>
            <p:nvPicPr>
              <p:cNvPr id="96" name="Picture 95">
                <a:extLst>
                  <a:ext uri="{FF2B5EF4-FFF2-40B4-BE49-F238E27FC236}">
                    <a16:creationId xmlns:a16="http://schemas.microsoft.com/office/drawing/2014/main" id="{11326692-88E5-DD75-C6B9-5EA9135504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42245" y="4509210"/>
                <a:ext cx="2535948" cy="923454"/>
              </a:xfrm>
              <a:prstGeom prst="rect">
                <a:avLst/>
              </a:prstGeom>
            </p:spPr>
          </p:pic>
        </p:grp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AF99039E-D13A-8FEB-79D8-BB3D66B48F7E}"/>
                </a:ext>
              </a:extLst>
            </p:cNvPr>
            <p:cNvCxnSpPr/>
            <p:nvPr/>
          </p:nvCxnSpPr>
          <p:spPr>
            <a:xfrm>
              <a:off x="3685788" y="6070998"/>
              <a:ext cx="563993" cy="0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DCBC7A54-53F9-E51C-BB13-E93C356EA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5234" y="5585666"/>
              <a:ext cx="2535948" cy="923454"/>
            </a:xfrm>
            <a:prstGeom prst="rect">
              <a:avLst/>
            </a:prstGeom>
          </p:spPr>
        </p:pic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E7B61EE0-4E3A-3ED8-3B29-D61535ED7ABA}"/>
              </a:ext>
            </a:extLst>
          </p:cNvPr>
          <p:cNvSpPr txBox="1"/>
          <p:nvPr/>
        </p:nvSpPr>
        <p:spPr>
          <a:xfrm>
            <a:off x="306577" y="6542766"/>
            <a:ext cx="76732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2. Intermediate nodes compute partition-preserving reductions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911E943C-0C25-DEB2-F663-F2289D6EF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454" y="1224913"/>
            <a:ext cx="3577135" cy="1302598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10CAE3ED-B211-0535-2471-AD8022363389}"/>
              </a:ext>
            </a:extLst>
          </p:cNvPr>
          <p:cNvSpPr txBox="1"/>
          <p:nvPr/>
        </p:nvSpPr>
        <p:spPr>
          <a:xfrm>
            <a:off x="1024708" y="2514466"/>
            <a:ext cx="45786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Unit of reduction: timestep </a:t>
            </a:r>
            <a:r>
              <a:rPr lang="en-US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dataframe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2000" b="1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hash-partitioned on “rank”</a:t>
            </a:r>
          </a:p>
        </p:txBody>
      </p:sp>
      <p:pic>
        <p:nvPicPr>
          <p:cNvPr id="159" name="Picture 158">
            <a:extLst>
              <a:ext uri="{FF2B5EF4-FFF2-40B4-BE49-F238E27FC236}">
                <a16:creationId xmlns:a16="http://schemas.microsoft.com/office/drawing/2014/main" id="{7429C1F1-B9B2-F18A-39CF-6E8B0EC78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4457" y="6221323"/>
            <a:ext cx="1709738" cy="622594"/>
          </a:xfrm>
          <a:prstGeom prst="rect">
            <a:avLst/>
          </a:prstGeom>
        </p:spPr>
      </p:pic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697B905-63F8-DCB5-7277-7B9DDBF1AEE2}"/>
              </a:ext>
            </a:extLst>
          </p:cNvPr>
          <p:cNvCxnSpPr>
            <a:cxnSpLocks/>
          </p:cNvCxnSpPr>
          <p:nvPr/>
        </p:nvCxnSpPr>
        <p:spPr>
          <a:xfrm flipV="1">
            <a:off x="12463229" y="4072754"/>
            <a:ext cx="0" cy="1612898"/>
          </a:xfrm>
          <a:prstGeom prst="straightConnector1">
            <a:avLst/>
          </a:prstGeom>
          <a:ln>
            <a:solidFill>
              <a:schemeClr val="bg2">
                <a:lumMod val="50000"/>
                <a:alpha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1878BB7-7203-48E0-AC3D-5DFD42F01586}"/>
              </a:ext>
            </a:extLst>
          </p:cNvPr>
          <p:cNvGrpSpPr/>
          <p:nvPr/>
        </p:nvGrpSpPr>
        <p:grpSpPr>
          <a:xfrm>
            <a:off x="9734885" y="3891130"/>
            <a:ext cx="2568573" cy="641444"/>
            <a:chOff x="11154127" y="3419768"/>
            <a:chExt cx="2568573" cy="641444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3F80A18C-1FA2-C2FA-7012-DB2DB75D1505}"/>
                </a:ext>
              </a:extLst>
            </p:cNvPr>
            <p:cNvSpPr/>
            <p:nvPr/>
          </p:nvSpPr>
          <p:spPr>
            <a:xfrm>
              <a:off x="11154127" y="3419768"/>
              <a:ext cx="641444" cy="641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  <a:alpha val="60083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>
                    <a:lumMod val="50000"/>
                    <a:alpha val="80000"/>
                  </a:schemeClr>
                </a:solidFill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CE85B34-70E5-2AA7-570D-12004BD47783}"/>
                </a:ext>
              </a:extLst>
            </p:cNvPr>
            <p:cNvSpPr/>
            <p:nvPr/>
          </p:nvSpPr>
          <p:spPr>
            <a:xfrm>
              <a:off x="11798368" y="3419768"/>
              <a:ext cx="641444" cy="641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  <a:alpha val="60083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>
                    <a:lumMod val="50000"/>
                    <a:alpha val="80000"/>
                  </a:schemeClr>
                </a:solidFill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FC35C197-2AA6-A0BD-3298-A857D54AF8B2}"/>
                </a:ext>
              </a:extLst>
            </p:cNvPr>
            <p:cNvSpPr/>
            <p:nvPr/>
          </p:nvSpPr>
          <p:spPr>
            <a:xfrm>
              <a:off x="12439812" y="3419768"/>
              <a:ext cx="641444" cy="641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  <a:alpha val="60083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>
                    <a:lumMod val="50000"/>
                    <a:alpha val="80000"/>
                  </a:schemeClr>
                </a:solidFill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2838878-CE27-440F-527C-A7D46D20E919}"/>
                </a:ext>
              </a:extLst>
            </p:cNvPr>
            <p:cNvSpPr/>
            <p:nvPr/>
          </p:nvSpPr>
          <p:spPr>
            <a:xfrm>
              <a:off x="13081256" y="3419768"/>
              <a:ext cx="641444" cy="641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  <a:alpha val="60083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>
                    <a:lumMod val="50000"/>
                    <a:alpha val="80000"/>
                  </a:schemeClr>
                </a:solidFill>
              </a:endParaRP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D2F53358-CAC3-6CD5-3299-8F7EAB1AC21F}"/>
              </a:ext>
            </a:extLst>
          </p:cNvPr>
          <p:cNvGrpSpPr/>
          <p:nvPr/>
        </p:nvGrpSpPr>
        <p:grpSpPr>
          <a:xfrm>
            <a:off x="9734311" y="4532574"/>
            <a:ext cx="2568573" cy="641444"/>
            <a:chOff x="11154127" y="3419768"/>
            <a:chExt cx="2568573" cy="641444"/>
          </a:xfrm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3F87A4E5-8344-568F-32C9-B937346A79A4}"/>
                </a:ext>
              </a:extLst>
            </p:cNvPr>
            <p:cNvSpPr/>
            <p:nvPr/>
          </p:nvSpPr>
          <p:spPr>
            <a:xfrm>
              <a:off x="11154127" y="3419768"/>
              <a:ext cx="641444" cy="641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  <a:alpha val="60083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>
                    <a:lumMod val="50000"/>
                    <a:alpha val="80000"/>
                  </a:schemeClr>
                </a:solidFill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CAD7A63E-096A-E23E-AB99-D546430AD0B5}"/>
                </a:ext>
              </a:extLst>
            </p:cNvPr>
            <p:cNvSpPr/>
            <p:nvPr/>
          </p:nvSpPr>
          <p:spPr>
            <a:xfrm>
              <a:off x="11798368" y="3419768"/>
              <a:ext cx="641444" cy="641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  <a:alpha val="60083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>
                    <a:lumMod val="50000"/>
                    <a:alpha val="80000"/>
                  </a:schemeClr>
                </a:solidFill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92016E21-AB6D-75E6-6473-E5AC518087AA}"/>
                </a:ext>
              </a:extLst>
            </p:cNvPr>
            <p:cNvSpPr/>
            <p:nvPr/>
          </p:nvSpPr>
          <p:spPr>
            <a:xfrm>
              <a:off x="12439812" y="3419768"/>
              <a:ext cx="641444" cy="641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  <a:alpha val="60083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>
                    <a:lumMod val="50000"/>
                    <a:alpha val="80000"/>
                  </a:schemeClr>
                </a:solidFill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73D644AB-DD49-429E-BB91-D02505F2EAEB}"/>
                </a:ext>
              </a:extLst>
            </p:cNvPr>
            <p:cNvSpPr/>
            <p:nvPr/>
          </p:nvSpPr>
          <p:spPr>
            <a:xfrm>
              <a:off x="13081256" y="3419768"/>
              <a:ext cx="641444" cy="641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  <a:alpha val="60083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>
                    <a:lumMod val="50000"/>
                    <a:alpha val="80000"/>
                  </a:schemeClr>
                </a:solidFill>
              </a:endParaRP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B0EE2022-79F8-FFE1-605C-EDEF32C11783}"/>
              </a:ext>
            </a:extLst>
          </p:cNvPr>
          <p:cNvGrpSpPr/>
          <p:nvPr/>
        </p:nvGrpSpPr>
        <p:grpSpPr>
          <a:xfrm>
            <a:off x="9735709" y="5171052"/>
            <a:ext cx="2568573" cy="641444"/>
            <a:chOff x="11154127" y="3419768"/>
            <a:chExt cx="2568573" cy="641444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771737B8-253C-EB84-A84A-AE35A59A171E}"/>
                </a:ext>
              </a:extLst>
            </p:cNvPr>
            <p:cNvSpPr/>
            <p:nvPr/>
          </p:nvSpPr>
          <p:spPr>
            <a:xfrm>
              <a:off x="11154127" y="3419768"/>
              <a:ext cx="641444" cy="641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  <a:alpha val="60083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>
                    <a:lumMod val="50000"/>
                    <a:alpha val="80000"/>
                  </a:schemeClr>
                </a:solidFill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64015A74-1B0C-8A3F-EFC7-2E3D257F5A24}"/>
                </a:ext>
              </a:extLst>
            </p:cNvPr>
            <p:cNvSpPr/>
            <p:nvPr/>
          </p:nvSpPr>
          <p:spPr>
            <a:xfrm>
              <a:off x="11798368" y="3419768"/>
              <a:ext cx="641444" cy="641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  <a:alpha val="60083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>
                    <a:lumMod val="50000"/>
                    <a:alpha val="80000"/>
                  </a:schemeClr>
                </a:solidFill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2D684E54-0068-91A3-D239-AE911BBEF53D}"/>
                </a:ext>
              </a:extLst>
            </p:cNvPr>
            <p:cNvSpPr/>
            <p:nvPr/>
          </p:nvSpPr>
          <p:spPr>
            <a:xfrm>
              <a:off x="12439812" y="3419768"/>
              <a:ext cx="641444" cy="641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  <a:alpha val="60083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>
                    <a:lumMod val="50000"/>
                    <a:alpha val="80000"/>
                  </a:schemeClr>
                </a:solidFill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9D18139-72C8-1D0F-F757-1EC855150FE0}"/>
                </a:ext>
              </a:extLst>
            </p:cNvPr>
            <p:cNvSpPr/>
            <p:nvPr/>
          </p:nvSpPr>
          <p:spPr>
            <a:xfrm>
              <a:off x="13081256" y="3419768"/>
              <a:ext cx="641444" cy="641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50000"/>
                  <a:alpha val="60083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>
                    <a:lumMod val="50000"/>
                    <a:alpha val="80000"/>
                  </a:schemeClr>
                </a:solidFill>
              </a:endParaRPr>
            </a:p>
          </p:txBody>
        </p:sp>
      </p:grpSp>
      <p:sp>
        <p:nvSpPr>
          <p:cNvPr id="157" name="TextBox 156">
            <a:extLst>
              <a:ext uri="{FF2B5EF4-FFF2-40B4-BE49-F238E27FC236}">
                <a16:creationId xmlns:a16="http://schemas.microsoft.com/office/drawing/2014/main" id="{08678C96-57C6-4315-AD3D-38C444ED66C7}"/>
              </a:ext>
            </a:extLst>
          </p:cNvPr>
          <p:cNvSpPr txBox="1"/>
          <p:nvPr/>
        </p:nvSpPr>
        <p:spPr>
          <a:xfrm rot="16200000">
            <a:off x="12081064" y="4706837"/>
            <a:ext cx="110549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25000"/>
                    <a:alpha val="70326"/>
                  </a:schemeClr>
                </a:solidFill>
              </a:rPr>
              <a:t>Timestep</a:t>
            </a:r>
          </a:p>
        </p:txBody>
      </p:sp>
      <p:pic>
        <p:nvPicPr>
          <p:cNvPr id="172" name="Picture 171">
            <a:extLst>
              <a:ext uri="{FF2B5EF4-FFF2-40B4-BE49-F238E27FC236}">
                <a16:creationId xmlns:a16="http://schemas.microsoft.com/office/drawing/2014/main" id="{D54868F3-417B-6ADB-D86A-65B99DF7E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951" y="3947472"/>
            <a:ext cx="392164" cy="528760"/>
          </a:xfrm>
          <a:prstGeom prst="rect">
            <a:avLst/>
          </a:prstGeom>
        </p:spPr>
      </p:pic>
      <p:pic>
        <p:nvPicPr>
          <p:cNvPr id="175" name="Picture 174">
            <a:extLst>
              <a:ext uri="{FF2B5EF4-FFF2-40B4-BE49-F238E27FC236}">
                <a16:creationId xmlns:a16="http://schemas.microsoft.com/office/drawing/2014/main" id="{FF81CBB4-4383-7177-35F0-5F816E744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3589" y="3961770"/>
            <a:ext cx="392164" cy="528760"/>
          </a:xfrm>
          <a:prstGeom prst="rect">
            <a:avLst/>
          </a:prstGeom>
        </p:spPr>
      </p:pic>
      <p:pic>
        <p:nvPicPr>
          <p:cNvPr id="177" name="Picture 176">
            <a:extLst>
              <a:ext uri="{FF2B5EF4-FFF2-40B4-BE49-F238E27FC236}">
                <a16:creationId xmlns:a16="http://schemas.microsoft.com/office/drawing/2014/main" id="{0676C004-4363-2397-5AD2-66810E9D35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313" y="4585950"/>
            <a:ext cx="392164" cy="528760"/>
          </a:xfrm>
          <a:prstGeom prst="rect">
            <a:avLst/>
          </a:prstGeom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30852D86-D6BD-639B-F67F-2AEC47A7E0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9125" y="4585950"/>
            <a:ext cx="392164" cy="528760"/>
          </a:xfrm>
          <a:prstGeom prst="rect">
            <a:avLst/>
          </a:prstGeom>
        </p:spPr>
      </p:pic>
      <p:pic>
        <p:nvPicPr>
          <p:cNvPr id="179" name="Picture 178">
            <a:extLst>
              <a:ext uri="{FF2B5EF4-FFF2-40B4-BE49-F238E27FC236}">
                <a16:creationId xmlns:a16="http://schemas.microsoft.com/office/drawing/2014/main" id="{22CCE681-0D93-84DD-1D71-D5AAAF9362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2951" y="4600248"/>
            <a:ext cx="392164" cy="528760"/>
          </a:xfrm>
          <a:prstGeom prst="rect">
            <a:avLst/>
          </a:prstGeom>
        </p:spPr>
      </p:pic>
      <p:pic>
        <p:nvPicPr>
          <p:cNvPr id="180" name="Picture 179">
            <a:extLst>
              <a:ext uri="{FF2B5EF4-FFF2-40B4-BE49-F238E27FC236}">
                <a16:creationId xmlns:a16="http://schemas.microsoft.com/office/drawing/2014/main" id="{83A6444F-FA60-CCA1-BCD7-1F70CA6946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53763" y="4600248"/>
            <a:ext cx="392164" cy="528760"/>
          </a:xfrm>
          <a:prstGeom prst="rect">
            <a:avLst/>
          </a:prstGeom>
        </p:spPr>
      </p:pic>
      <p:pic>
        <p:nvPicPr>
          <p:cNvPr id="181" name="Picture 180">
            <a:extLst>
              <a:ext uri="{FF2B5EF4-FFF2-40B4-BE49-F238E27FC236}">
                <a16:creationId xmlns:a16="http://schemas.microsoft.com/office/drawing/2014/main" id="{786C2BE8-5E37-82C3-5D33-0C16D35EA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313" y="5204415"/>
            <a:ext cx="392164" cy="528760"/>
          </a:xfrm>
          <a:prstGeom prst="rect">
            <a:avLst/>
          </a:prstGeom>
        </p:spPr>
      </p:pic>
      <p:pic>
        <p:nvPicPr>
          <p:cNvPr id="183" name="Picture 182">
            <a:extLst>
              <a:ext uri="{FF2B5EF4-FFF2-40B4-BE49-F238E27FC236}">
                <a16:creationId xmlns:a16="http://schemas.microsoft.com/office/drawing/2014/main" id="{F755B3C5-6A81-D0AD-5AE0-8D0C41521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2951" y="5218713"/>
            <a:ext cx="392164" cy="528760"/>
          </a:xfrm>
          <a:prstGeom prst="rect">
            <a:avLst/>
          </a:prstGeom>
        </p:spPr>
      </p:pic>
      <p:pic>
        <p:nvPicPr>
          <p:cNvPr id="184" name="Picture 183">
            <a:extLst>
              <a:ext uri="{FF2B5EF4-FFF2-40B4-BE49-F238E27FC236}">
                <a16:creationId xmlns:a16="http://schemas.microsoft.com/office/drawing/2014/main" id="{9E5B9A52-D531-9AD4-6C8B-98685035AA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53763" y="5218713"/>
            <a:ext cx="392164" cy="528760"/>
          </a:xfrm>
          <a:prstGeom prst="rect">
            <a:avLst/>
          </a:prstGeom>
        </p:spPr>
      </p:pic>
      <p:sp>
        <p:nvSpPr>
          <p:cNvPr id="187" name="TextBox 186">
            <a:extLst>
              <a:ext uri="{FF2B5EF4-FFF2-40B4-BE49-F238E27FC236}">
                <a16:creationId xmlns:a16="http://schemas.microsoft.com/office/drawing/2014/main" id="{514A0A0C-5505-F378-FFBB-0221226A4623}"/>
              </a:ext>
            </a:extLst>
          </p:cNvPr>
          <p:cNvSpPr txBox="1"/>
          <p:nvPr/>
        </p:nvSpPr>
        <p:spPr>
          <a:xfrm>
            <a:off x="8852622" y="3102293"/>
            <a:ext cx="42900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Incoming data may arrive out of order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20CA05CF-1652-CE10-ED83-74E4EEB47C7F}"/>
              </a:ext>
            </a:extLst>
          </p:cNvPr>
          <p:cNvSpPr txBox="1"/>
          <p:nvPr/>
        </p:nvSpPr>
        <p:spPr>
          <a:xfrm>
            <a:off x="8406816" y="6898888"/>
            <a:ext cx="49870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Collected data is yielded in timestep order</a:t>
            </a:r>
          </a:p>
          <a:p>
            <a:pPr algn="ctr"/>
            <a:r>
              <a:rPr lang="en-US" sz="2000" i="1" dirty="0">
                <a:solidFill>
                  <a:schemeClr val="accent1">
                    <a:lumMod val="75000"/>
                  </a:schemeClr>
                </a:solidFill>
              </a:rPr>
              <a:t>OOM risk, managed using flow control</a:t>
            </a:r>
          </a:p>
        </p:txBody>
      </p: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460CC971-CD82-70AE-FCE9-AD45C294206B}"/>
              </a:ext>
            </a:extLst>
          </p:cNvPr>
          <p:cNvCxnSpPr>
            <a:cxnSpLocks/>
          </p:cNvCxnSpPr>
          <p:nvPr/>
        </p:nvCxnSpPr>
        <p:spPr>
          <a:xfrm rot="10800000" flipV="1">
            <a:off x="9444239" y="3749558"/>
            <a:ext cx="0" cy="2068587"/>
          </a:xfrm>
          <a:prstGeom prst="straightConnector1">
            <a:avLst/>
          </a:prstGeom>
          <a:ln cap="flat">
            <a:solidFill>
              <a:schemeClr val="accent1">
                <a:lumMod val="50000"/>
                <a:alpha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2D000FA0-9913-AB89-8B14-3856855364BD}"/>
              </a:ext>
            </a:extLst>
          </p:cNvPr>
          <p:cNvSpPr txBox="1"/>
          <p:nvPr/>
        </p:nvSpPr>
        <p:spPr>
          <a:xfrm rot="16200000">
            <a:off x="8277173" y="4585793"/>
            <a:ext cx="197002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  <a:alpha val="80000"/>
                  </a:schemeClr>
                </a:solidFill>
              </a:rPr>
              <a:t>Aggregator Queue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03482A69-6E7E-0936-6DE2-36372041F8C1}"/>
              </a:ext>
            </a:extLst>
          </p:cNvPr>
          <p:cNvSpPr txBox="1"/>
          <p:nvPr/>
        </p:nvSpPr>
        <p:spPr>
          <a:xfrm>
            <a:off x="9102545" y="5737139"/>
            <a:ext cx="681597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  <a:alpha val="80000"/>
                  </a:schemeClr>
                </a:solidFill>
              </a:rPr>
              <a:t>Head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6C325E88-7887-3F95-902F-8A27ED91ADF5}"/>
              </a:ext>
            </a:extLst>
          </p:cNvPr>
          <p:cNvSpPr txBox="1"/>
          <p:nvPr/>
        </p:nvSpPr>
        <p:spPr>
          <a:xfrm>
            <a:off x="9159032" y="3474745"/>
            <a:ext cx="502638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  <a:alpha val="80000"/>
                  </a:schemeClr>
                </a:solidFill>
              </a:rPr>
              <a:t>Tail</a:t>
            </a:r>
          </a:p>
        </p:txBody>
      </p: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7D6B08E1-C7EC-1D8E-F56B-9D06581E2312}"/>
              </a:ext>
            </a:extLst>
          </p:cNvPr>
          <p:cNvCxnSpPr/>
          <p:nvPr/>
        </p:nvCxnSpPr>
        <p:spPr>
          <a:xfrm flipH="1">
            <a:off x="10699274" y="5922396"/>
            <a:ext cx="298359" cy="2103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558CFE46-6752-E5A5-38C2-4FC40C0B41D6}"/>
              </a:ext>
            </a:extLst>
          </p:cNvPr>
          <p:cNvCxnSpPr>
            <a:cxnSpLocks/>
          </p:cNvCxnSpPr>
          <p:nvPr/>
        </p:nvCxnSpPr>
        <p:spPr>
          <a:xfrm>
            <a:off x="10152349" y="3774810"/>
            <a:ext cx="1797496" cy="0"/>
          </a:xfrm>
          <a:prstGeom prst="straightConnector1">
            <a:avLst/>
          </a:prstGeom>
          <a:ln>
            <a:solidFill>
              <a:schemeClr val="bg2">
                <a:lumMod val="50000"/>
                <a:alpha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95CD9753-6471-EE48-FB81-639D7B66CCFA}"/>
              </a:ext>
            </a:extLst>
          </p:cNvPr>
          <p:cNvSpPr txBox="1"/>
          <p:nvPr/>
        </p:nvSpPr>
        <p:spPr>
          <a:xfrm>
            <a:off x="10685207" y="3420217"/>
            <a:ext cx="68775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25000"/>
                    <a:alpha val="70326"/>
                  </a:schemeClr>
                </a:solidFill>
              </a:rPr>
              <a:t>Rank</a:t>
            </a:r>
          </a:p>
        </p:txBody>
      </p:sp>
    </p:spTree>
    <p:extLst>
      <p:ext uri="{BB962C8B-B14F-4D97-AF65-F5344CB8AC3E}">
        <p14:creationId xmlns:p14="http://schemas.microsoft.com/office/powerpoint/2010/main" val="3223305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2643E-44D3-55B9-BCD5-A65B1A91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Control: Async, Timestep-Consistent 2PC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AC091D-BEBE-DD72-596B-938D65E318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4401" y="1589870"/>
                <a:ext cx="12801599" cy="54864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Control + real-time visibility enables fine-grained collection decisions</a:t>
                </a:r>
              </a:p>
              <a:p>
                <a:pPr lvl="1"/>
                <a:r>
                  <a:rPr lang="en-US" dirty="0"/>
                  <a:t>Traces involve uncontrolled collection, do not know what to collect</a:t>
                </a:r>
              </a:p>
              <a:p>
                <a:r>
                  <a:rPr lang="en-US" dirty="0"/>
                  <a:t>Dynamic observability use cases:</a:t>
                </a:r>
              </a:p>
              <a:p>
                <a:pPr lvl="1"/>
                <a:r>
                  <a:rPr lang="en-US" dirty="0"/>
                  <a:t>Common-case monitoring to problem localization</a:t>
                </a:r>
              </a:p>
              <a:p>
                <a:pPr lvl="1"/>
                <a:r>
                  <a:rPr lang="en-US" dirty="0"/>
                  <a:t>Examples: update flow, toggle probes </a:t>
                </a:r>
              </a:p>
              <a:p>
                <a:pPr lvl="1"/>
                <a:r>
                  <a:rPr lang="en-US" i="1" dirty="0"/>
                  <a:t>Future</a:t>
                </a:r>
                <a:r>
                  <a:rPr lang="en-US" dirty="0"/>
                  <a:t>: dynamic instrumentation</a:t>
                </a:r>
              </a:p>
              <a:p>
                <a:r>
                  <a:rPr lang="en-US" dirty="0"/>
                  <a:t>Correctness: atomic, timestep-consistent</a:t>
                </a:r>
              </a:p>
              <a:p>
                <a:pPr lvl="1"/>
                <a:r>
                  <a:rPr lang="en-US" dirty="0"/>
                  <a:t>Controller has a lagging view of BSP timestep</a:t>
                </a:r>
              </a:p>
              <a:p>
                <a:pPr lvl="1"/>
                <a:r>
                  <a:rPr lang="en-US" dirty="0"/>
                  <a:t>Triggers a non-blocking two-phase commit protocol for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+∆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dirty="0"/>
                  <a:t> learned automatically (</a:t>
                </a:r>
                <a:r>
                  <a:rPr lang="en-US" i="1" dirty="0"/>
                  <a:t>increment on failure</a:t>
                </a:r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AC091D-BEBE-DD72-596B-938D65E318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1" y="1589870"/>
                <a:ext cx="12801599" cy="5486400"/>
              </a:xfrm>
              <a:blipFill>
                <a:blip r:embed="rId2"/>
                <a:stretch>
                  <a:fillRect l="-1091" t="-2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80921-F30B-573F-3A76-99D134F6A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3060D-112A-5E9F-8867-DD1B40099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AE2C-C71F-B8C6-E6B6-67F94115C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183BF85-FC8E-F143-726B-4AB2E7B255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5872"/>
          <a:stretch>
            <a:fillRect/>
          </a:stretch>
        </p:blipFill>
        <p:spPr>
          <a:xfrm>
            <a:off x="8138509" y="3773804"/>
            <a:ext cx="6491891" cy="182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455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BE89F4C4-E710-DDD7-745D-0F1E72D07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TS2PC Cases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73B5D-B030-6F53-FA0D-8191E89EB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9785A-39FF-F9CA-0E75-E84920B0E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5E36E-4251-800F-460B-7A7E7BA31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5F668C-7D12-7D35-06A1-0C3B0ABC34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527"/>
          <a:stretch>
            <a:fillRect/>
          </a:stretch>
        </p:blipFill>
        <p:spPr>
          <a:xfrm>
            <a:off x="822571" y="1792260"/>
            <a:ext cx="4350918" cy="427192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6301C89-4392-7314-733A-01040D92EFE1}"/>
              </a:ext>
            </a:extLst>
          </p:cNvPr>
          <p:cNvGrpSpPr/>
          <p:nvPr/>
        </p:nvGrpSpPr>
        <p:grpSpPr>
          <a:xfrm>
            <a:off x="5021799" y="1792260"/>
            <a:ext cx="4595203" cy="4271921"/>
            <a:chOff x="3442093" y="280043"/>
            <a:chExt cx="3582578" cy="33305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8F6F66-F796-4229-2094-D4F3CA468FDA}"/>
                </a:ext>
              </a:extLst>
            </p:cNvPr>
            <p:cNvSpPr/>
            <p:nvPr/>
          </p:nvSpPr>
          <p:spPr>
            <a:xfrm>
              <a:off x="3607783" y="378507"/>
              <a:ext cx="3416888" cy="32320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8C117A6-8D6D-F350-F6C1-4990C7A24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4264" r="34264"/>
            <a:stretch>
              <a:fillRect/>
            </a:stretch>
          </p:blipFill>
          <p:spPr>
            <a:xfrm>
              <a:off x="3442093" y="280043"/>
              <a:ext cx="3291840" cy="3232072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21EAC8-0106-3B70-0E8C-6BD052CF929B}"/>
              </a:ext>
            </a:extLst>
          </p:cNvPr>
          <p:cNvGrpSpPr/>
          <p:nvPr/>
        </p:nvGrpSpPr>
        <p:grpSpPr>
          <a:xfrm>
            <a:off x="9677835" y="1792260"/>
            <a:ext cx="4222287" cy="4145626"/>
            <a:chOff x="6378740" y="263879"/>
            <a:chExt cx="3291840" cy="32320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6DA7CE-2B95-B5B2-CB63-720C09655665}"/>
                </a:ext>
              </a:extLst>
            </p:cNvPr>
            <p:cNvSpPr/>
            <p:nvPr/>
          </p:nvSpPr>
          <p:spPr>
            <a:xfrm>
              <a:off x="6425030" y="296948"/>
              <a:ext cx="3199261" cy="31659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DC37021-2DCF-CC61-E5EC-3D916EC40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1755" t="2809" r="-3227" b="-2809"/>
            <a:stretch>
              <a:fillRect/>
            </a:stretch>
          </p:blipFill>
          <p:spPr>
            <a:xfrm>
              <a:off x="6378740" y="263879"/>
              <a:ext cx="3291840" cy="32320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5378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3582A-8B21-A789-6E85-9085062EB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842CF-1AEF-C407-9B78-E0BF474BE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589870"/>
            <a:ext cx="12801600" cy="5486400"/>
          </a:xfrm>
        </p:spPr>
        <p:txBody>
          <a:bodyPr>
            <a:normAutofit/>
          </a:bodyPr>
          <a:lstStyle/>
          <a:p>
            <a:r>
              <a:rPr lang="en-US" dirty="0"/>
              <a:t>High-fidelity, real-time performance observability</a:t>
            </a:r>
          </a:p>
          <a:p>
            <a:r>
              <a:rPr lang="en-US" dirty="0"/>
              <a:t>Targeted collection of telemetry for offline analysis</a:t>
            </a:r>
          </a:p>
          <a:p>
            <a:r>
              <a:rPr lang="en-US" dirty="0"/>
              <a:t>Visibility over any application state expressible as SQL</a:t>
            </a:r>
          </a:p>
          <a:p>
            <a:pPr lvl="1"/>
            <a:r>
              <a:rPr lang="en-US" dirty="0"/>
              <a:t>Real-time visualization of energy histograms using software sketches</a:t>
            </a:r>
          </a:p>
          <a:p>
            <a:pPr lvl="1"/>
            <a:r>
              <a:rPr lang="en-US" dirty="0"/>
              <a:t>Real-time visualization of mesh state</a:t>
            </a:r>
          </a:p>
          <a:p>
            <a:pPr lvl="1"/>
            <a:r>
              <a:rPr lang="en-US" dirty="0"/>
              <a:t>Unify disparate in-situ visualization tools</a:t>
            </a:r>
          </a:p>
          <a:p>
            <a:pPr lvl="1"/>
            <a:r>
              <a:rPr lang="en-US" dirty="0"/>
              <a:t>Challenge: non-relational analyses, open planner allows escape hatches</a:t>
            </a:r>
          </a:p>
          <a:p>
            <a:r>
              <a:rPr lang="en-US" dirty="0" err="1"/>
              <a:t>TrainCheck</a:t>
            </a:r>
            <a:r>
              <a:rPr lang="en-US" dirty="0"/>
              <a:t> (</a:t>
            </a:r>
            <a:r>
              <a:rPr lang="en-US" sz="2800" dirty="0"/>
              <a:t>OSDI 2025</a:t>
            </a:r>
            <a:r>
              <a:rPr lang="en-US" dirty="0"/>
              <a:t>): example DLT use case beyond performance</a:t>
            </a:r>
          </a:p>
          <a:p>
            <a:pPr lvl="1"/>
            <a:r>
              <a:rPr lang="en-US" dirty="0"/>
              <a:t>Uses reconstructed application state to flag correctness errors in training</a:t>
            </a:r>
          </a:p>
          <a:p>
            <a:pPr lvl="1"/>
            <a:r>
              <a:rPr lang="en-US" dirty="0"/>
              <a:t>Amenable to ORCA semantics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0D994-CA1C-A35A-7344-EBC0B43C7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9CF7A-B538-11C4-69EC-89A08E490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B49AD-09DC-3D65-FE29-0B67EB06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60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E00EF-A6B1-9006-10B7-43D6CE65E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Status and Eval. Roadmap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68A2F28-AA05-A5DE-5C93-5EEC3D860F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7043087"/>
              </p:ext>
            </p:extLst>
          </p:nvPr>
        </p:nvGraphicFramePr>
        <p:xfrm>
          <a:off x="736917" y="1873568"/>
          <a:ext cx="13156565" cy="33528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400800">
                  <a:extLst>
                    <a:ext uri="{9D8B030D-6E8A-4147-A177-3AD203B41FA5}">
                      <a16:colId xmlns:a16="http://schemas.microsoft.com/office/drawing/2014/main" val="300081582"/>
                    </a:ext>
                  </a:extLst>
                </a:gridCol>
                <a:gridCol w="6755765">
                  <a:extLst>
                    <a:ext uri="{9D8B030D-6E8A-4147-A177-3AD203B41FA5}">
                      <a16:colId xmlns:a16="http://schemas.microsoft.com/office/drawing/2014/main" val="365383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603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800" dirty="0"/>
                        <a:t>Single aggregator, local query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/>
                        <a:t>Implemented, tested, tuned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/>
                        <a:t>Up to 3GB/s on 40 Gbps </a:t>
                      </a:r>
                      <a:r>
                        <a:rPr lang="en-US" sz="2800" dirty="0" err="1"/>
                        <a:t>Infiniband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776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Multiple </a:t>
                      </a:r>
                      <a:r>
                        <a:rPr lang="en-US" sz="2800" dirty="0" err="1"/>
                        <a:t>aggs</a:t>
                      </a:r>
                      <a:r>
                        <a:rPr lang="en-US" sz="2800" dirty="0"/>
                        <a:t>. + distributed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/>
                        <a:t>Overlay tested, found functional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/>
                        <a:t>Query planning + integration completed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/>
                        <a:t>End-to-end tuning and testing 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39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err="1"/>
                        <a:t>Pytorch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Kineto</a:t>
                      </a:r>
                      <a:r>
                        <a:rPr lang="en-US" sz="2800" dirty="0"/>
                        <a:t>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/>
                        <a:t>Ongoing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94057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CF46-EB0F-7717-ED4A-9CE5EEE0D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3E973-E35C-9B89-5449-BC66EF57D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A64AC-7792-5115-8B52-31CF6E510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BC6598-CF30-B27B-E337-55499F717514}"/>
              </a:ext>
            </a:extLst>
          </p:cNvPr>
          <p:cNvSpPr txBox="1"/>
          <p:nvPr/>
        </p:nvSpPr>
        <p:spPr>
          <a:xfrm>
            <a:off x="670171" y="1328260"/>
            <a:ext cx="5681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Codebase: ~30k LOC, C++ and Rust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45A435-C8A5-7550-3B50-3225AEC6473E}"/>
              </a:ext>
            </a:extLst>
          </p:cNvPr>
          <p:cNvSpPr txBox="1"/>
          <p:nvPr/>
        </p:nvSpPr>
        <p:spPr>
          <a:xfrm>
            <a:off x="670171" y="5556854"/>
            <a:ext cx="1331300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Evaluation Planned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Synthetic stress tests, scale vs throughput, impact of pushdowns, application jitter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Runtime overhead vs tracing for 4096-core AMR, smaller data-parallel DLT job</a:t>
            </a:r>
          </a:p>
        </p:txBody>
      </p:sp>
    </p:spTree>
    <p:extLst>
      <p:ext uri="{BB962C8B-B14F-4D97-AF65-F5344CB8AC3E}">
        <p14:creationId xmlns:p14="http://schemas.microsoft.com/office/powerpoint/2010/main" val="1721278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125E7-8ED2-7F6E-733C-6A66DDFDB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Graduation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8EA78-139A-5196-8E4A-D65AA724A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98535-3F68-00ED-D0BF-17937ABC9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C105D-6806-53C6-A037-065D31CC6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57912-DCB5-A6FB-9CE7-4D4B8A938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1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1E87-8825-5EB9-7504-31F315150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 BSP Efficiency Needs BSP O11y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934E4-3CCF-286E-B0EE-16EE6E23B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the minimum data necessary to reconstruct a distributed view</a:t>
            </a:r>
          </a:p>
          <a:p>
            <a:pPr lvl="1"/>
            <a:r>
              <a:rPr lang="en-US" dirty="0"/>
              <a:t>ORCA provides a programmable substrate to enable such a reconstruction</a:t>
            </a:r>
          </a:p>
          <a:p>
            <a:r>
              <a:rPr lang="en-US" dirty="0"/>
              <a:t>BSP is different: scale, lockstep execution, homogeneity</a:t>
            </a:r>
          </a:p>
          <a:p>
            <a:pPr lvl="1"/>
            <a:r>
              <a:rPr lang="en-US" dirty="0"/>
              <a:t>Distributed tracing paradigms: designed around microservices/request IDs</a:t>
            </a:r>
          </a:p>
          <a:p>
            <a:pPr lvl="1"/>
            <a:r>
              <a:rPr lang="en-US" dirty="0"/>
              <a:t>ORCA is built around the BSP timestep and runtime environment</a:t>
            </a:r>
          </a:p>
          <a:p>
            <a:r>
              <a:rPr lang="en-US" dirty="0"/>
              <a:t>HPC and OLAP have traditionally not intersected</a:t>
            </a:r>
          </a:p>
          <a:p>
            <a:pPr lvl="1"/>
            <a:r>
              <a:rPr lang="en-US" dirty="0"/>
              <a:t>Apache Arrow, Parquet, and </a:t>
            </a:r>
            <a:r>
              <a:rPr lang="en-US" dirty="0" err="1"/>
              <a:t>Datafusion</a:t>
            </a:r>
            <a:r>
              <a:rPr lang="en-US" dirty="0"/>
              <a:t> can potentially change that</a:t>
            </a:r>
          </a:p>
          <a:p>
            <a:pPr lvl="1"/>
            <a:r>
              <a:rPr lang="en-US" dirty="0"/>
              <a:t>Concurrent effort: pushing down </a:t>
            </a:r>
            <a:r>
              <a:rPr lang="en-US" dirty="0" err="1"/>
              <a:t>Substrait</a:t>
            </a:r>
            <a:r>
              <a:rPr lang="en-US" dirty="0"/>
              <a:t> plans on the query path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5DC4B-6199-6DE1-B54D-255AF676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65781-8603-3695-FB6B-DE0B48BE3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7117C-F655-9877-A339-277F53DD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249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206"/>
            <a:ext cx="12801600" cy="1590676"/>
          </a:xfrm>
        </p:spPr>
        <p:txBody>
          <a:bodyPr/>
          <a:lstStyle/>
          <a:p>
            <a:pPr marL="0" lvl="0" indent="0">
              <a:buNone/>
            </a:pPr>
            <a:r>
              <a:t>Notes For 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Intro</a:t>
            </a:r>
          </a:p>
          <a:p>
            <a:pPr lvl="0"/>
            <a:r>
              <a:t>CARP</a:t>
            </a:r>
          </a:p>
          <a:p>
            <a:pPr lvl="0"/>
            <a:r>
              <a:t>AMR</a:t>
            </a:r>
          </a:p>
          <a:p>
            <a:pPr lvl="0"/>
            <a:r>
              <a:t>ORCA</a:t>
            </a:r>
          </a:p>
          <a:p>
            <a:pPr lvl="0"/>
            <a:r>
              <a:t>Pending Work and Conclusions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B2B37F-F343-4833-9D3A-5D4D28BF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21637" y="7802761"/>
            <a:ext cx="3291840" cy="438150"/>
          </a:xfrm>
        </p:spPr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00F7A94-D97D-B9B5-A1DE-D797422C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AB6BCC-4665-8F36-E48C-23CF24C6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206"/>
            <a:ext cx="12801600" cy="1590676"/>
          </a:xfrm>
        </p:spPr>
        <p:txBody>
          <a:bodyPr/>
          <a:lstStyle/>
          <a:p>
            <a:pPr marL="0" lvl="0" indent="0">
              <a:buNone/>
            </a:pPr>
            <a:r>
              <a:t>Outline - 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BSP is important and very different</a:t>
            </a:r>
          </a:p>
          <a:p>
            <a:pPr lvl="0"/>
            <a:r>
              <a:t>Applications: scientific simulations, ML training</a:t>
            </a:r>
          </a:p>
          <a:p>
            <a:pPr lvl="0"/>
            <a:r>
              <a:t>Our work:</a:t>
            </a:r>
          </a:p>
          <a:p>
            <a:pPr lvl="1"/>
            <a:r>
              <a:t>First, two case studies (along compute and data paths)</a:t>
            </a:r>
          </a:p>
          <a:p>
            <a:pPr lvl="1"/>
            <a:r>
              <a:t>(Targeting scientific simulations)</a:t>
            </a:r>
          </a:p>
          <a:p>
            <a:pPr lvl="1"/>
            <a:r>
              <a:t>Then, lessons unifying them into a common framework</a:t>
            </a:r>
          </a:p>
          <a:p>
            <a:pPr lvl="1"/>
            <a:r>
              <a:t>(Planned scope includes observability for ML training)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B2B37F-F343-4833-9D3A-5D4D28BF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21637" y="7802761"/>
            <a:ext cx="3291840" cy="438150"/>
          </a:xfrm>
        </p:spPr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00F7A94-D97D-B9B5-A1DE-D797422C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AB6BCC-4665-8F36-E48C-23CF24C6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206"/>
            <a:ext cx="12801600" cy="1590676"/>
          </a:xfrm>
        </p:spPr>
        <p:txBody>
          <a:bodyPr/>
          <a:lstStyle/>
          <a:p>
            <a:pPr marL="0" lvl="0" indent="0">
              <a:buNone/>
            </a:pPr>
            <a:r>
              <a:t>BSP: Common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 general tool for solving problems that need a lot of compute</a:t>
            </a:r>
          </a:p>
          <a:p>
            <a:pPr lvl="0"/>
            <a:r>
              <a:t>Model: problem decomposition + execution in lockstep</a:t>
            </a:r>
          </a:p>
          <a:p>
            <a:pPr lvl="0"/>
            <a:r>
              <a:t>Failure model: checkpoint and restart</a:t>
            </a:r>
          </a:p>
          <a:p>
            <a:pPr lvl="0"/>
            <a:r>
              <a:t>Runtime behavior: compute, checkpoint, compute, checkpoint, …</a:t>
            </a:r>
          </a:p>
          <a:p>
            <a:pPr lvl="0"/>
            <a:r>
              <a:t>Compute path problem: stragglers</a:t>
            </a:r>
          </a:p>
          <a:p>
            <a:pPr lvl="0"/>
            <a:r>
              <a:t>Data path problem: lots of data generated in sync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B2B37F-F343-4833-9D3A-5D4D28BF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21637" y="7802761"/>
            <a:ext cx="3291840" cy="438150"/>
          </a:xfrm>
        </p:spPr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00F7A94-D97D-B9B5-A1DE-D797422C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AB6BCC-4665-8F36-E48C-23CF24C6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206"/>
            <a:ext cx="12801600" cy="1590676"/>
          </a:xfrm>
        </p:spPr>
        <p:txBody>
          <a:bodyPr/>
          <a:lstStyle/>
          <a:p>
            <a:pPr marL="0" lvl="0" indent="0">
              <a:buNone/>
            </a:pPr>
            <a:r>
              <a:t>Basic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14400" y="1689100"/>
          <a:ext cx="12801600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Habit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Getting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Going to sleep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B2B37F-F343-4833-9D3A-5D4D28BF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21637" y="7802761"/>
            <a:ext cx="3291840" cy="438150"/>
          </a:xfrm>
        </p:spPr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00F7A94-D97D-B9B5-A1DE-D797422C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AB6BCC-4665-8F36-E48C-23CF24C6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206"/>
            <a:ext cx="12801600" cy="1590676"/>
          </a:xfrm>
        </p:spPr>
        <p:txBody>
          <a:bodyPr/>
          <a:lstStyle/>
          <a:p>
            <a:pPr marL="0" lvl="0" indent="0">
              <a:buNone/>
            </a:pPr>
            <a:r>
              <a:t>Basic 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greet(name):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f"Hello,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!"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B2B37F-F343-4833-9D3A-5D4D28BF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21637" y="7802761"/>
            <a:ext cx="3291840" cy="438150"/>
          </a:xfrm>
        </p:spPr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00F7A94-D97D-B9B5-A1DE-D797422C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AB6BCC-4665-8F36-E48C-23CF24C6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Figures and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yo</a:t>
            </a:r>
          </a:p>
        </p:txBody>
      </p:sp>
      <p:pic>
        <p:nvPicPr>
          <p:cNvPr id="4" name="Picture 1" descr="./ext/carp-ppt-sc24/plots/roofline.f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467600" y="2184400"/>
            <a:ext cx="6096000" cy="521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8704F-7339-EB43-80BF-952BF7E55C7A}" type="datetime4">
              <a:rPr lang="en-US" smtClean="0"/>
              <a:t>August 13,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AA45A-338A-8FF2-7C6B-6AA60A99B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196F0-E5AC-73D3-175A-E6436886A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206"/>
            <a:ext cx="12801600" cy="1590676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BSP: Hardware and Application Arch</a:t>
            </a:r>
            <a:r>
              <a:rPr lang="en-US" dirty="0"/>
              <a:t>e</a:t>
            </a:r>
            <a:r>
              <a:rPr dirty="0"/>
              <a:t>types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CD5006C-40A3-D46A-58E6-F078FF39AA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21637" y="7802761"/>
            <a:ext cx="3291840" cy="438150"/>
          </a:xfrm>
        </p:spPr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C843A59-7A1C-8560-96C0-2B11D9433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F0E7A2E-7ADC-C656-C882-E797B177A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32</a:t>
            </a:fld>
            <a:endParaRPr lang="en-US"/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89D13F93-9B6D-B56C-7C08-07357578E1E9}"/>
              </a:ext>
            </a:extLst>
          </p:cNvPr>
          <p:cNvGrpSpPr/>
          <p:nvPr/>
        </p:nvGrpSpPr>
        <p:grpSpPr>
          <a:xfrm>
            <a:off x="173018" y="1410348"/>
            <a:ext cx="7911745" cy="861173"/>
            <a:chOff x="320040" y="1600200"/>
            <a:chExt cx="7911745" cy="861173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1F425A4B-A10E-F5F8-9FE3-625ECC4B0ACB}"/>
                </a:ext>
              </a:extLst>
            </p:cNvPr>
            <p:cNvSpPr/>
            <p:nvPr/>
          </p:nvSpPr>
          <p:spPr>
            <a:xfrm>
              <a:off x="320040" y="1600200"/>
              <a:ext cx="7911745" cy="8611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3DCC08E-C5E7-6110-B73B-1BE2984070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43901" y="1993284"/>
              <a:ext cx="612935" cy="0"/>
            </a:xfrm>
            <a:prstGeom prst="line">
              <a:avLst/>
            </a:prstGeom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4B0E65D-293E-8DD9-949A-5DF52E3D46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538" y="2001911"/>
              <a:ext cx="569248" cy="0"/>
            </a:xfrm>
            <a:prstGeom prst="line">
              <a:avLst/>
            </a:prstGeom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38411EC-F22B-D06F-B587-D3B64AAE3F8A}"/>
                </a:ext>
              </a:extLst>
            </p:cNvPr>
            <p:cNvSpPr txBox="1"/>
            <p:nvPr/>
          </p:nvSpPr>
          <p:spPr>
            <a:xfrm>
              <a:off x="1168897" y="1738842"/>
              <a:ext cx="29997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Control</a:t>
              </a:r>
              <a:r>
                <a:rPr lang="en-US" dirty="0"/>
                <a:t> (</a:t>
              </a:r>
              <a:r>
                <a:rPr lang="en-US" i="1" dirty="0"/>
                <a:t>Frontend) </a:t>
              </a:r>
              <a:r>
                <a:rPr lang="en-US" b="1" dirty="0"/>
                <a:t>Network</a:t>
              </a:r>
            </a:p>
            <a:p>
              <a:r>
                <a:rPr lang="en-US" b="1" dirty="0"/>
                <a:t>1Gbps</a:t>
              </a:r>
              <a:r>
                <a:rPr lang="en-US" dirty="0"/>
                <a:t> (</a:t>
              </a:r>
              <a:r>
                <a:rPr lang="en-US" i="1" dirty="0"/>
                <a:t>200 Gbps</a:t>
              </a:r>
              <a:r>
                <a:rPr lang="en-US" dirty="0"/>
                <a:t>)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4A95C48-7514-8E20-E045-62BCEE35C9B1}"/>
                </a:ext>
              </a:extLst>
            </p:cNvPr>
            <p:cNvSpPr txBox="1"/>
            <p:nvPr/>
          </p:nvSpPr>
          <p:spPr>
            <a:xfrm>
              <a:off x="5105101" y="1688422"/>
              <a:ext cx="294888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Backend Fabric</a:t>
              </a:r>
            </a:p>
            <a:p>
              <a:r>
                <a:rPr lang="en-US" b="1" dirty="0"/>
                <a:t>400 Gbps, </a:t>
              </a:r>
              <a:r>
                <a:rPr lang="en-US" dirty="0"/>
                <a:t>RDMA or similar</a:t>
              </a:r>
            </a:p>
          </p:txBody>
        </p: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CAFD246A-EF46-4DA6-7858-6EAC8E0E8F07}"/>
              </a:ext>
            </a:extLst>
          </p:cNvPr>
          <p:cNvSpPr txBox="1"/>
          <p:nvPr/>
        </p:nvSpPr>
        <p:spPr>
          <a:xfrm>
            <a:off x="5714532" y="3364960"/>
            <a:ext cx="34581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O(</a:t>
            </a:r>
            <a:r>
              <a:rPr lang="en-US" sz="2400" b="1" i="1" dirty="0"/>
              <a:t>10K</a:t>
            </a:r>
            <a:r>
              <a:rPr lang="en-US" sz="2400" b="1" dirty="0"/>
              <a:t>) Compute Nodes</a:t>
            </a:r>
          </a:p>
          <a:p>
            <a:r>
              <a:rPr lang="en-US" sz="2400" dirty="0"/>
              <a:t>8 GPUs/node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919FD07F-9769-C4C3-E377-F6A83E4E73B3}"/>
              </a:ext>
            </a:extLst>
          </p:cNvPr>
          <p:cNvSpPr txBox="1"/>
          <p:nvPr/>
        </p:nvSpPr>
        <p:spPr>
          <a:xfrm>
            <a:off x="5661179" y="5410573"/>
            <a:ext cx="37382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Shared Storage</a:t>
            </a:r>
          </a:p>
          <a:p>
            <a:r>
              <a:rPr lang="en-US" sz="2400" dirty="0"/>
              <a:t>Parallel Filesystem (</a:t>
            </a:r>
            <a:r>
              <a:rPr lang="en-US" sz="2400" i="1" dirty="0" err="1"/>
              <a:t>Lustre</a:t>
            </a:r>
            <a:r>
              <a:rPr lang="en-US" sz="2400" dirty="0"/>
              <a:t>)</a:t>
            </a:r>
          </a:p>
          <a:p>
            <a:r>
              <a:rPr lang="en-US" sz="2400" dirty="0"/>
              <a:t>Object Store (</a:t>
            </a:r>
            <a:r>
              <a:rPr lang="en-US" sz="2400" i="1" dirty="0"/>
              <a:t>DAOS</a:t>
            </a:r>
            <a:r>
              <a:rPr lang="en-US" sz="2400" dirty="0"/>
              <a:t>)</a:t>
            </a:r>
          </a:p>
          <a:p>
            <a:r>
              <a:rPr lang="en-US" sz="2400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64AC19-86CA-C5C4-9004-6B3D2B9A13A4}"/>
              </a:ext>
            </a:extLst>
          </p:cNvPr>
          <p:cNvGrpSpPr/>
          <p:nvPr/>
        </p:nvGrpSpPr>
        <p:grpSpPr>
          <a:xfrm>
            <a:off x="184418" y="2588203"/>
            <a:ext cx="5530114" cy="3980994"/>
            <a:chOff x="184418" y="2588203"/>
            <a:chExt cx="5530114" cy="3980994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B3191D7D-7666-AC3D-7ED3-1A8E07E46265}"/>
                </a:ext>
              </a:extLst>
            </p:cNvPr>
            <p:cNvGrpSpPr/>
            <p:nvPr/>
          </p:nvGrpSpPr>
          <p:grpSpPr>
            <a:xfrm>
              <a:off x="184418" y="2588203"/>
              <a:ext cx="5029201" cy="2335242"/>
              <a:chOff x="1653766" y="2732291"/>
              <a:chExt cx="5029201" cy="2335242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2D68D28-289E-2149-E5C8-249B0C36A092}"/>
                  </a:ext>
                </a:extLst>
              </p:cNvPr>
              <p:cNvGrpSpPr/>
              <p:nvPr/>
            </p:nvGrpSpPr>
            <p:grpSpPr>
              <a:xfrm>
                <a:off x="1653767" y="3062531"/>
                <a:ext cx="1092313" cy="364104"/>
                <a:chOff x="1517074" y="3190009"/>
                <a:chExt cx="1371600" cy="457200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BC9D2C07-434E-0A54-8BC1-83BC1F4E1734}"/>
                    </a:ext>
                  </a:extLst>
                </p:cNvPr>
                <p:cNvSpPr/>
                <p:nvPr/>
              </p:nvSpPr>
              <p:spPr>
                <a:xfrm>
                  <a:off x="1517074" y="3190009"/>
                  <a:ext cx="1371600" cy="457200"/>
                </a:xfrm>
                <a:prstGeom prst="rect">
                  <a:avLst/>
                </a:prstGeom>
                <a:noFill/>
                <a:ln w="19050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accent5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5F6D44F2-F2A9-69C9-C453-52FD38ACFEC9}"/>
                    </a:ext>
                  </a:extLst>
                </p:cNvPr>
                <p:cNvSpPr/>
                <p:nvPr/>
              </p:nvSpPr>
              <p:spPr>
                <a:xfrm>
                  <a:off x="1683328" y="3342496"/>
                  <a:ext cx="155984" cy="155984"/>
                </a:xfrm>
                <a:prstGeom prst="ellipse">
                  <a:avLst/>
                </a:prstGeom>
                <a:noFill/>
                <a:ln w="19050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E5F7455-A545-A99A-FD21-3C1E100EEC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4681" y="3426635"/>
                <a:ext cx="0" cy="320040"/>
              </a:xfrm>
              <a:prstGeom prst="line">
                <a:avLst/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6DA2A14-DACC-F8CD-0005-B24EE60EA2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4681" y="2732291"/>
                <a:ext cx="0" cy="320040"/>
              </a:xfrm>
              <a:prstGeom prst="line">
                <a:avLst/>
              </a:prstGeom>
              <a:ln w="381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0D863423-8604-E043-8D35-EE0BE99801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21227" y="3426635"/>
                <a:ext cx="0" cy="320040"/>
              </a:xfrm>
              <a:prstGeom prst="line">
                <a:avLst/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95C3A8AD-B1DA-514F-81EC-F3FF39A0A1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21227" y="2732291"/>
                <a:ext cx="0" cy="320040"/>
              </a:xfrm>
              <a:prstGeom prst="line">
                <a:avLst/>
              </a:prstGeom>
              <a:ln w="381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05354681-B77E-ED0E-8BB5-10BFC9C1F3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87773" y="3426635"/>
                <a:ext cx="0" cy="320040"/>
              </a:xfrm>
              <a:prstGeom prst="line">
                <a:avLst/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DB0B9DD3-EE92-D105-A6C4-DD37CCAD6D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87773" y="2732291"/>
                <a:ext cx="0" cy="320040"/>
              </a:xfrm>
              <a:prstGeom prst="line">
                <a:avLst/>
              </a:prstGeom>
              <a:ln w="381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05979875-C946-604E-1D2A-D2A356195E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3766" y="3764579"/>
                <a:ext cx="5029200" cy="0"/>
              </a:xfrm>
              <a:prstGeom prst="line">
                <a:avLst/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C2178858-21CD-6C1D-5024-62E90E0796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53767" y="2732291"/>
                <a:ext cx="5029200" cy="0"/>
              </a:xfrm>
              <a:prstGeom prst="line">
                <a:avLst/>
              </a:prstGeom>
              <a:ln w="381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35F482D9-8C51-EFD4-7B34-3614515901C9}"/>
                  </a:ext>
                </a:extLst>
              </p:cNvPr>
              <p:cNvGrpSpPr/>
              <p:nvPr/>
            </p:nvGrpSpPr>
            <p:grpSpPr>
              <a:xfrm>
                <a:off x="3413371" y="3062531"/>
                <a:ext cx="1092313" cy="364104"/>
                <a:chOff x="1517074" y="3190009"/>
                <a:chExt cx="1371600" cy="457200"/>
              </a:xfrm>
            </p:grpSpPr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51A2C422-31BF-B748-CAFB-BA5CF67D0A43}"/>
                    </a:ext>
                  </a:extLst>
                </p:cNvPr>
                <p:cNvSpPr/>
                <p:nvPr/>
              </p:nvSpPr>
              <p:spPr>
                <a:xfrm>
                  <a:off x="1517074" y="3190009"/>
                  <a:ext cx="1371600" cy="457200"/>
                </a:xfrm>
                <a:prstGeom prst="rect">
                  <a:avLst/>
                </a:prstGeom>
                <a:noFill/>
                <a:ln w="19050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accent5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055DE0DF-3D26-DB91-C8E5-C6BCF24D663F}"/>
                    </a:ext>
                  </a:extLst>
                </p:cNvPr>
                <p:cNvSpPr/>
                <p:nvPr/>
              </p:nvSpPr>
              <p:spPr>
                <a:xfrm>
                  <a:off x="1683328" y="3342496"/>
                  <a:ext cx="155984" cy="155984"/>
                </a:xfrm>
                <a:prstGeom prst="ellipse">
                  <a:avLst/>
                </a:prstGeom>
                <a:noFill/>
                <a:ln w="19050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CEFA6F96-2405-0F9F-2CA2-E57D71FC10F0}"/>
                  </a:ext>
                </a:extLst>
              </p:cNvPr>
              <p:cNvGrpSpPr/>
              <p:nvPr/>
            </p:nvGrpSpPr>
            <p:grpSpPr>
              <a:xfrm>
                <a:off x="5341616" y="3052331"/>
                <a:ext cx="1092313" cy="364104"/>
                <a:chOff x="1517074" y="3190009"/>
                <a:chExt cx="1371600" cy="457200"/>
              </a:xfrm>
            </p:grpSpPr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99A5DA50-688F-1E48-1146-B1971C12E73C}"/>
                    </a:ext>
                  </a:extLst>
                </p:cNvPr>
                <p:cNvSpPr/>
                <p:nvPr/>
              </p:nvSpPr>
              <p:spPr>
                <a:xfrm>
                  <a:off x="1517074" y="3190009"/>
                  <a:ext cx="1371600" cy="457200"/>
                </a:xfrm>
                <a:prstGeom prst="rect">
                  <a:avLst/>
                </a:prstGeom>
                <a:noFill/>
                <a:ln w="19050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accent5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7D92CBD3-64CE-7B82-6585-479887FDDBD9}"/>
                    </a:ext>
                  </a:extLst>
                </p:cNvPr>
                <p:cNvSpPr/>
                <p:nvPr/>
              </p:nvSpPr>
              <p:spPr>
                <a:xfrm>
                  <a:off x="1683328" y="3342496"/>
                  <a:ext cx="155984" cy="155984"/>
                </a:xfrm>
                <a:prstGeom prst="ellipse">
                  <a:avLst/>
                </a:prstGeom>
                <a:noFill/>
                <a:ln w="19050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40A4B4E3-A5B6-7A42-330D-81423CD087E7}"/>
                  </a:ext>
                </a:extLst>
              </p:cNvPr>
              <p:cNvGrpSpPr/>
              <p:nvPr/>
            </p:nvGrpSpPr>
            <p:grpSpPr>
              <a:xfrm>
                <a:off x="1653767" y="4365485"/>
                <a:ext cx="1092313" cy="364104"/>
                <a:chOff x="1517074" y="3190009"/>
                <a:chExt cx="1371600" cy="457200"/>
              </a:xfrm>
            </p:grpSpPr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217A4901-727D-E71F-AAA8-4185BBD8DE39}"/>
                    </a:ext>
                  </a:extLst>
                </p:cNvPr>
                <p:cNvSpPr/>
                <p:nvPr/>
              </p:nvSpPr>
              <p:spPr>
                <a:xfrm>
                  <a:off x="1517074" y="3190009"/>
                  <a:ext cx="1371600" cy="457200"/>
                </a:xfrm>
                <a:prstGeom prst="rect">
                  <a:avLst/>
                </a:prstGeom>
                <a:noFill/>
                <a:ln w="19050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accent5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2C79B4A7-2E8F-81CB-9517-E347D0B6C438}"/>
                    </a:ext>
                  </a:extLst>
                </p:cNvPr>
                <p:cNvSpPr/>
                <p:nvPr/>
              </p:nvSpPr>
              <p:spPr>
                <a:xfrm>
                  <a:off x="1683328" y="3342496"/>
                  <a:ext cx="155984" cy="155984"/>
                </a:xfrm>
                <a:prstGeom prst="ellipse">
                  <a:avLst/>
                </a:prstGeom>
                <a:noFill/>
                <a:ln w="19050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4B3758CE-8959-46EB-AE84-A8F1CA145B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4681" y="4729589"/>
                <a:ext cx="0" cy="320040"/>
              </a:xfrm>
              <a:prstGeom prst="line">
                <a:avLst/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FE7A2BE4-F3DF-A230-B99D-B92874CDF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4681" y="4035245"/>
                <a:ext cx="0" cy="320040"/>
              </a:xfrm>
              <a:prstGeom prst="line">
                <a:avLst/>
              </a:prstGeom>
              <a:ln w="381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52967998-901D-221D-0E0A-371DFC601D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21227" y="4729589"/>
                <a:ext cx="0" cy="320040"/>
              </a:xfrm>
              <a:prstGeom prst="line">
                <a:avLst/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99135DC6-73BA-2675-F8DC-F560C64EFA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21227" y="4035245"/>
                <a:ext cx="0" cy="320040"/>
              </a:xfrm>
              <a:prstGeom prst="line">
                <a:avLst/>
              </a:prstGeom>
              <a:ln w="381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584FC193-5A00-AF0E-D067-5B836D288C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87773" y="4729589"/>
                <a:ext cx="0" cy="320040"/>
              </a:xfrm>
              <a:prstGeom prst="line">
                <a:avLst/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0B812B9E-FBF2-471B-2B25-E9CB35900A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87773" y="4035245"/>
                <a:ext cx="0" cy="320040"/>
              </a:xfrm>
              <a:prstGeom prst="line">
                <a:avLst/>
              </a:prstGeom>
              <a:ln w="381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51B3AAA7-48E7-D7FD-05C3-4606A56FBC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53766" y="5067533"/>
                <a:ext cx="5029200" cy="0"/>
              </a:xfrm>
              <a:prstGeom prst="line">
                <a:avLst/>
              </a:prstGeom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895347EE-2BB5-F677-71FA-D2C2E9783A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53767" y="4035245"/>
                <a:ext cx="5029200" cy="0"/>
              </a:xfrm>
              <a:prstGeom prst="line">
                <a:avLst/>
              </a:prstGeom>
              <a:ln w="381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FFE67A2E-698E-7E14-CB10-93F90EED6494}"/>
                  </a:ext>
                </a:extLst>
              </p:cNvPr>
              <p:cNvGrpSpPr/>
              <p:nvPr/>
            </p:nvGrpSpPr>
            <p:grpSpPr>
              <a:xfrm>
                <a:off x="3413371" y="4365485"/>
                <a:ext cx="1092313" cy="364104"/>
                <a:chOff x="1517074" y="3190009"/>
                <a:chExt cx="1371600" cy="457200"/>
              </a:xfrm>
            </p:grpSpPr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6731816C-2E23-B485-5A7C-0803281D43EB}"/>
                    </a:ext>
                  </a:extLst>
                </p:cNvPr>
                <p:cNvSpPr/>
                <p:nvPr/>
              </p:nvSpPr>
              <p:spPr>
                <a:xfrm>
                  <a:off x="1517074" y="3190009"/>
                  <a:ext cx="1371600" cy="457200"/>
                </a:xfrm>
                <a:prstGeom prst="rect">
                  <a:avLst/>
                </a:prstGeom>
                <a:noFill/>
                <a:ln w="19050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accent5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3DC3C7B9-AF15-59EC-BE65-8131FA0BA9B8}"/>
                    </a:ext>
                  </a:extLst>
                </p:cNvPr>
                <p:cNvSpPr/>
                <p:nvPr/>
              </p:nvSpPr>
              <p:spPr>
                <a:xfrm>
                  <a:off x="1683328" y="3342496"/>
                  <a:ext cx="155984" cy="155984"/>
                </a:xfrm>
                <a:prstGeom prst="ellipse">
                  <a:avLst/>
                </a:prstGeom>
                <a:noFill/>
                <a:ln w="19050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6BAE72D5-795C-2D51-ECDD-C379247F394A}"/>
                  </a:ext>
                </a:extLst>
              </p:cNvPr>
              <p:cNvGrpSpPr/>
              <p:nvPr/>
            </p:nvGrpSpPr>
            <p:grpSpPr>
              <a:xfrm>
                <a:off x="5341616" y="4355285"/>
                <a:ext cx="1092313" cy="364104"/>
                <a:chOff x="1517074" y="3190009"/>
                <a:chExt cx="1371600" cy="457200"/>
              </a:xfrm>
            </p:grpSpPr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5ECCD220-2C09-A575-DF08-DFAC1CA093CA}"/>
                    </a:ext>
                  </a:extLst>
                </p:cNvPr>
                <p:cNvSpPr/>
                <p:nvPr/>
              </p:nvSpPr>
              <p:spPr>
                <a:xfrm>
                  <a:off x="1517074" y="3190009"/>
                  <a:ext cx="1371600" cy="457200"/>
                </a:xfrm>
                <a:prstGeom prst="rect">
                  <a:avLst/>
                </a:prstGeom>
                <a:noFill/>
                <a:ln w="19050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accent5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82DD0137-E90A-356B-28EA-F88B55514F6F}"/>
                    </a:ext>
                  </a:extLst>
                </p:cNvPr>
                <p:cNvSpPr/>
                <p:nvPr/>
              </p:nvSpPr>
              <p:spPr>
                <a:xfrm>
                  <a:off x="1683328" y="3342496"/>
                  <a:ext cx="155984" cy="155984"/>
                </a:xfrm>
                <a:prstGeom prst="ellipse">
                  <a:avLst/>
                </a:prstGeom>
                <a:noFill/>
                <a:ln w="19050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F6C85188-E3F9-7F06-3FA6-ADF5D1512037}"/>
                </a:ext>
              </a:extLst>
            </p:cNvPr>
            <p:cNvGrpSpPr/>
            <p:nvPr/>
          </p:nvGrpSpPr>
          <p:grpSpPr>
            <a:xfrm>
              <a:off x="448228" y="5517637"/>
              <a:ext cx="4329078" cy="1051560"/>
              <a:chOff x="441042" y="5638800"/>
              <a:chExt cx="4329078" cy="1051560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93B73750-B084-9DBE-235F-0881C89966D9}"/>
                  </a:ext>
                </a:extLst>
              </p:cNvPr>
              <p:cNvSpPr/>
              <p:nvPr/>
            </p:nvSpPr>
            <p:spPr>
              <a:xfrm>
                <a:off x="441042" y="5638800"/>
                <a:ext cx="4329078" cy="105156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49508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Can 139">
                <a:extLst>
                  <a:ext uri="{FF2B5EF4-FFF2-40B4-BE49-F238E27FC236}">
                    <a16:creationId xmlns:a16="http://schemas.microsoft.com/office/drawing/2014/main" id="{C1C0EB1D-B128-B461-2C38-D60A25623BA0}"/>
                  </a:ext>
                </a:extLst>
              </p:cNvPr>
              <p:cNvSpPr/>
              <p:nvPr/>
            </p:nvSpPr>
            <p:spPr>
              <a:xfrm flipV="1">
                <a:off x="864774" y="5907894"/>
                <a:ext cx="914400" cy="224923"/>
              </a:xfrm>
              <a:prstGeom prst="can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Can 140">
                <a:extLst>
                  <a:ext uri="{FF2B5EF4-FFF2-40B4-BE49-F238E27FC236}">
                    <a16:creationId xmlns:a16="http://schemas.microsoft.com/office/drawing/2014/main" id="{23126BDF-E306-2CDD-08CE-1493E8ED7D3B}"/>
                  </a:ext>
                </a:extLst>
              </p:cNvPr>
              <p:cNvSpPr/>
              <p:nvPr/>
            </p:nvSpPr>
            <p:spPr>
              <a:xfrm flipV="1">
                <a:off x="864774" y="6053897"/>
                <a:ext cx="914400" cy="224923"/>
              </a:xfrm>
              <a:prstGeom prst="can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Can 141">
                <a:extLst>
                  <a:ext uri="{FF2B5EF4-FFF2-40B4-BE49-F238E27FC236}">
                    <a16:creationId xmlns:a16="http://schemas.microsoft.com/office/drawing/2014/main" id="{FA58F30E-6371-D327-07A7-CB9AB0E4F628}"/>
                  </a:ext>
                </a:extLst>
              </p:cNvPr>
              <p:cNvSpPr/>
              <p:nvPr/>
            </p:nvSpPr>
            <p:spPr>
              <a:xfrm flipV="1">
                <a:off x="864774" y="6199900"/>
                <a:ext cx="914400" cy="224923"/>
              </a:xfrm>
              <a:prstGeom prst="can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Can 142">
                <a:extLst>
                  <a:ext uri="{FF2B5EF4-FFF2-40B4-BE49-F238E27FC236}">
                    <a16:creationId xmlns:a16="http://schemas.microsoft.com/office/drawing/2014/main" id="{CEAB24EA-A80D-66FF-B2AB-DCF7F4A3997A}"/>
                  </a:ext>
                </a:extLst>
              </p:cNvPr>
              <p:cNvSpPr/>
              <p:nvPr/>
            </p:nvSpPr>
            <p:spPr>
              <a:xfrm flipV="1">
                <a:off x="2139921" y="5936939"/>
                <a:ext cx="914400" cy="224923"/>
              </a:xfrm>
              <a:prstGeom prst="can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Can 143">
                <a:extLst>
                  <a:ext uri="{FF2B5EF4-FFF2-40B4-BE49-F238E27FC236}">
                    <a16:creationId xmlns:a16="http://schemas.microsoft.com/office/drawing/2014/main" id="{AC29CFE9-C8F9-DF09-5586-DD7EDD2911C7}"/>
                  </a:ext>
                </a:extLst>
              </p:cNvPr>
              <p:cNvSpPr/>
              <p:nvPr/>
            </p:nvSpPr>
            <p:spPr>
              <a:xfrm flipV="1">
                <a:off x="2139921" y="6082942"/>
                <a:ext cx="914400" cy="224923"/>
              </a:xfrm>
              <a:prstGeom prst="can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Can 144">
                <a:extLst>
                  <a:ext uri="{FF2B5EF4-FFF2-40B4-BE49-F238E27FC236}">
                    <a16:creationId xmlns:a16="http://schemas.microsoft.com/office/drawing/2014/main" id="{F07D4D57-4578-8FBB-2B8A-50C901A92CB3}"/>
                  </a:ext>
                </a:extLst>
              </p:cNvPr>
              <p:cNvSpPr/>
              <p:nvPr/>
            </p:nvSpPr>
            <p:spPr>
              <a:xfrm flipV="1">
                <a:off x="2139921" y="6228945"/>
                <a:ext cx="914400" cy="224923"/>
              </a:xfrm>
              <a:prstGeom prst="can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Can 145">
                <a:extLst>
                  <a:ext uri="{FF2B5EF4-FFF2-40B4-BE49-F238E27FC236}">
                    <a16:creationId xmlns:a16="http://schemas.microsoft.com/office/drawing/2014/main" id="{2727F49F-8139-FE84-9C46-DFFF6973012A}"/>
                  </a:ext>
                </a:extLst>
              </p:cNvPr>
              <p:cNvSpPr/>
              <p:nvPr/>
            </p:nvSpPr>
            <p:spPr>
              <a:xfrm flipV="1">
                <a:off x="3415068" y="5936939"/>
                <a:ext cx="914400" cy="224923"/>
              </a:xfrm>
              <a:prstGeom prst="can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Can 146">
                <a:extLst>
                  <a:ext uri="{FF2B5EF4-FFF2-40B4-BE49-F238E27FC236}">
                    <a16:creationId xmlns:a16="http://schemas.microsoft.com/office/drawing/2014/main" id="{186FD583-D8B3-14EC-4A97-65E7DD1DEA01}"/>
                  </a:ext>
                </a:extLst>
              </p:cNvPr>
              <p:cNvSpPr/>
              <p:nvPr/>
            </p:nvSpPr>
            <p:spPr>
              <a:xfrm flipV="1">
                <a:off x="3415068" y="6082942"/>
                <a:ext cx="914400" cy="224923"/>
              </a:xfrm>
              <a:prstGeom prst="can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Can 147">
                <a:extLst>
                  <a:ext uri="{FF2B5EF4-FFF2-40B4-BE49-F238E27FC236}">
                    <a16:creationId xmlns:a16="http://schemas.microsoft.com/office/drawing/2014/main" id="{A8370C56-0835-B34A-B8F0-957B91ED78A9}"/>
                  </a:ext>
                </a:extLst>
              </p:cNvPr>
              <p:cNvSpPr/>
              <p:nvPr/>
            </p:nvSpPr>
            <p:spPr>
              <a:xfrm flipV="1">
                <a:off x="3415068" y="6228945"/>
                <a:ext cx="914400" cy="224923"/>
              </a:xfrm>
              <a:prstGeom prst="can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4B41ADE0-F6B9-9ED6-847C-FD74ACB7A6CB}"/>
                </a:ext>
              </a:extLst>
            </p:cNvPr>
            <p:cNvCxnSpPr>
              <a:cxnSpLocks/>
            </p:cNvCxnSpPr>
            <p:nvPr/>
          </p:nvCxnSpPr>
          <p:spPr>
            <a:xfrm>
              <a:off x="1934869" y="4905541"/>
              <a:ext cx="0" cy="594192"/>
            </a:xfrm>
            <a:prstGeom prst="line">
              <a:avLst/>
            </a:prstGeom>
            <a:ln w="38100">
              <a:solidFill>
                <a:schemeClr val="accent5">
                  <a:lumMod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E9F133E0-CC30-FB83-3B46-39F42FF352E8}"/>
                </a:ext>
              </a:extLst>
            </p:cNvPr>
            <p:cNvCxnSpPr>
              <a:cxnSpLocks/>
            </p:cNvCxnSpPr>
            <p:nvPr/>
          </p:nvCxnSpPr>
          <p:spPr>
            <a:xfrm>
              <a:off x="1772658" y="3891157"/>
              <a:ext cx="0" cy="1626480"/>
            </a:xfrm>
            <a:prstGeom prst="line">
              <a:avLst/>
            </a:prstGeom>
            <a:ln w="38100">
              <a:solidFill>
                <a:schemeClr val="accent2">
                  <a:lumMod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7ED97642-C007-A592-0B96-AEF5E79406C5}"/>
                </a:ext>
              </a:extLst>
            </p:cNvPr>
            <p:cNvCxnSpPr>
              <a:cxnSpLocks/>
            </p:cNvCxnSpPr>
            <p:nvPr/>
          </p:nvCxnSpPr>
          <p:spPr>
            <a:xfrm>
              <a:off x="5251990" y="2588203"/>
              <a:ext cx="462542" cy="0"/>
            </a:xfrm>
            <a:prstGeom prst="line">
              <a:avLst/>
            </a:prstGeom>
            <a:ln w="38100">
              <a:solidFill>
                <a:schemeClr val="accent2">
                  <a:lumMod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61E8F843-799A-1758-34A5-16A7E4BA81D3}"/>
                </a:ext>
              </a:extLst>
            </p:cNvPr>
            <p:cNvCxnSpPr>
              <a:cxnSpLocks/>
            </p:cNvCxnSpPr>
            <p:nvPr/>
          </p:nvCxnSpPr>
          <p:spPr>
            <a:xfrm>
              <a:off x="5213618" y="3888560"/>
              <a:ext cx="462542" cy="0"/>
            </a:xfrm>
            <a:prstGeom prst="line">
              <a:avLst/>
            </a:prstGeom>
            <a:ln w="38100">
              <a:solidFill>
                <a:schemeClr val="accent2">
                  <a:lumMod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B9B02604-2C99-0779-27A2-CED3B3D2139A}"/>
                </a:ext>
              </a:extLst>
            </p:cNvPr>
            <p:cNvCxnSpPr>
              <a:cxnSpLocks/>
            </p:cNvCxnSpPr>
            <p:nvPr/>
          </p:nvCxnSpPr>
          <p:spPr>
            <a:xfrm>
              <a:off x="5243227" y="3617771"/>
              <a:ext cx="462542" cy="0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1841B68E-6509-9008-0DC2-6FF9A1F58FCE}"/>
                </a:ext>
              </a:extLst>
            </p:cNvPr>
            <p:cNvCxnSpPr>
              <a:cxnSpLocks/>
            </p:cNvCxnSpPr>
            <p:nvPr/>
          </p:nvCxnSpPr>
          <p:spPr>
            <a:xfrm>
              <a:off x="5229928" y="4923445"/>
              <a:ext cx="462542" cy="0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D939F133-8168-021B-E03C-FBECAFD21987}"/>
              </a:ext>
            </a:extLst>
          </p:cNvPr>
          <p:cNvSpPr txBox="1"/>
          <p:nvPr/>
        </p:nvSpPr>
        <p:spPr>
          <a:xfrm>
            <a:off x="10341735" y="1441981"/>
            <a:ext cx="35734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Particle Codes</a:t>
            </a:r>
            <a:r>
              <a:rPr lang="en-US" sz="2800" dirty="0"/>
              <a:t> (HPC)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65EB1F46-9829-0D54-4B75-FE34D19816E0}"/>
              </a:ext>
            </a:extLst>
          </p:cNvPr>
          <p:cNvSpPr txBox="1"/>
          <p:nvPr/>
        </p:nvSpPr>
        <p:spPr>
          <a:xfrm>
            <a:off x="10468764" y="3888560"/>
            <a:ext cx="3196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Mesh Codes</a:t>
            </a:r>
            <a:r>
              <a:rPr lang="en-US" sz="2800" dirty="0"/>
              <a:t> (HPC)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82F445F-C629-4ADB-8118-56FD6C38EA52}"/>
              </a:ext>
            </a:extLst>
          </p:cNvPr>
          <p:cNvSpPr txBox="1"/>
          <p:nvPr/>
        </p:nvSpPr>
        <p:spPr>
          <a:xfrm>
            <a:off x="10607192" y="5637582"/>
            <a:ext cx="30425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Data Parallel </a:t>
            </a:r>
            <a:r>
              <a:rPr lang="en-US" sz="2800" dirty="0"/>
              <a:t>(ML)</a:t>
            </a:r>
          </a:p>
        </p:txBody>
      </p:sp>
      <p:pic>
        <p:nvPicPr>
          <p:cNvPr id="5" name="Picture 2" descr="Particle-in-Cell (PIC) Simulations of Plasmas">
            <a:extLst>
              <a:ext uri="{FF2B5EF4-FFF2-40B4-BE49-F238E27FC236}">
                <a16:creationId xmlns:a16="http://schemas.microsoft.com/office/drawing/2014/main" id="{CE431DB1-57C4-D301-9C26-DE288B9A4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697" y="2029610"/>
            <a:ext cx="1951098" cy="1777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A8BFC7E-B90D-5450-2589-17A80AB6A20B}"/>
              </a:ext>
            </a:extLst>
          </p:cNvPr>
          <p:cNvCxnSpPr>
            <a:cxnSpLocks/>
          </p:cNvCxnSpPr>
          <p:nvPr/>
        </p:nvCxnSpPr>
        <p:spPr>
          <a:xfrm>
            <a:off x="11054080" y="2500826"/>
            <a:ext cx="57061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D892DB1-3B4D-9A2C-EF37-1E11E25ACD2E}"/>
              </a:ext>
            </a:extLst>
          </p:cNvPr>
          <p:cNvSpPr txBox="1"/>
          <p:nvPr/>
        </p:nvSpPr>
        <p:spPr>
          <a:xfrm>
            <a:off x="8978190" y="2316160"/>
            <a:ext cx="2052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Computation Unit</a:t>
            </a:r>
          </a:p>
        </p:txBody>
      </p:sp>
    </p:spTree>
    <p:extLst>
      <p:ext uri="{BB962C8B-B14F-4D97-AF65-F5344CB8AC3E}">
        <p14:creationId xmlns:p14="http://schemas.microsoft.com/office/powerpoint/2010/main" val="32773675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2D585-5D1D-2EF1-781B-B06487EBA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EBB27-CB34-3946-23ED-2F956AA34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D7269-8B4C-12E9-3E16-6D52814FF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33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F21A73-519A-3BCC-9100-2B8196555701}"/>
              </a:ext>
            </a:extLst>
          </p:cNvPr>
          <p:cNvGrpSpPr/>
          <p:nvPr/>
        </p:nvGrpSpPr>
        <p:grpSpPr>
          <a:xfrm>
            <a:off x="258740" y="1576909"/>
            <a:ext cx="8191163" cy="4633391"/>
            <a:chOff x="468290" y="1348309"/>
            <a:chExt cx="8191163" cy="463339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B358F20-D518-E27D-1270-388783825567}"/>
                </a:ext>
              </a:extLst>
            </p:cNvPr>
            <p:cNvSpPr/>
            <p:nvPr/>
          </p:nvSpPr>
          <p:spPr>
            <a:xfrm>
              <a:off x="553607" y="1348309"/>
              <a:ext cx="8105846" cy="45270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DEDAB967-7F9E-2C80-278A-BE525BA8F5AB}"/>
                </a:ext>
              </a:extLst>
            </p:cNvPr>
            <p:cNvSpPr txBox="1">
              <a:spLocks/>
            </p:cNvSpPr>
            <p:nvPr/>
          </p:nvSpPr>
          <p:spPr>
            <a:xfrm>
              <a:off x="468290" y="1454623"/>
              <a:ext cx="8105847" cy="4527077"/>
            </a:xfrm>
            <a:prstGeom prst="rect">
              <a:avLst/>
            </a:prstGeom>
          </p:spPr>
          <p:txBody>
            <a:bodyPr/>
            <a:lstStyle>
              <a:lvl1pPr marL="342900" indent="-336550" algn="l" defTabSz="1097280" rtl="0" eaLnBrk="1" latinLnBrk="0" hangingPunct="1">
                <a:lnSpc>
                  <a:spcPct val="90000"/>
                </a:lnSpc>
                <a:spcBef>
                  <a:spcPts val="2200"/>
                </a:spcBef>
                <a:buFont typeface="Arial" panose="020B0604020202020204" pitchFamily="34" charset="0"/>
                <a:buChar char="•"/>
                <a:tabLst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22325" indent="-417513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Courier New" panose="02070309020205020404" pitchFamily="49" charset="0"/>
                <a:buChar char="o"/>
                <a:tabLst/>
                <a:defRPr sz="2800" kern="1200">
                  <a:solidFill>
                    <a:schemeClr val="bg2">
                      <a:lumMod val="1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37160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92024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6888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1752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6616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1480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6344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>
                <a:buFont typeface="Arial" panose="020B0604020202020204" pitchFamily="34" charset="0"/>
                <a:buNone/>
              </a:pPr>
              <a:r>
                <a:rPr lang="en-US" sz="2800" dirty="0">
                  <a:solidFill>
                    <a:srgbClr val="06287E"/>
                  </a:solidFill>
                  <a:latin typeface="Courier"/>
                </a:rPr>
                <a:t>nodes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</a:t>
              </a:r>
              <a:r>
                <a:rPr lang="en-US" sz="2800" dirty="0" err="1">
                  <a:solidFill>
                    <a:srgbClr val="06287E"/>
                  </a:solidFill>
                  <a:latin typeface="Courier"/>
                </a:rPr>
                <a:t>phase_trace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  </a:t>
              </a:r>
              <a:r>
                <a:rPr lang="en-US" sz="2800" dirty="0">
                  <a:solidFill>
                    <a:srgbClr val="06287E"/>
                  </a:solidFill>
                  <a:latin typeface="Courier"/>
                </a:rPr>
                <a:t>inputs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[</a:t>
              </a:r>
              <a:r>
                <a:rPr lang="en-US" sz="2800" dirty="0" err="1">
                  <a:solidFill>
                    <a:srgbClr val="7D9029"/>
                  </a:solidFill>
                  <a:latin typeface="Courier"/>
                </a:rPr>
                <a:t>mpi_trace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]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  </a:t>
              </a:r>
              <a:r>
                <a:rPr lang="en-US" sz="2800" dirty="0">
                  <a:solidFill>
                    <a:srgbClr val="06287E"/>
                  </a:solidFill>
                  <a:latin typeface="Courier"/>
                </a:rPr>
                <a:t>map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    </a:t>
              </a:r>
              <a:r>
                <a:rPr lang="en-US" sz="2800" dirty="0" err="1">
                  <a:solidFill>
                    <a:srgbClr val="06287E"/>
                  </a:solidFill>
                  <a:latin typeface="Courier"/>
                </a:rPr>
                <a:t>map_fn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</a:t>
              </a:r>
              <a:r>
                <a:rPr lang="en-US" sz="2800" dirty="0" err="1">
                  <a:solidFill>
                    <a:srgbClr val="7D9029"/>
                  </a:solidFill>
                  <a:latin typeface="Courier"/>
                </a:rPr>
                <a:t>classify_events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    </a:t>
              </a:r>
              <a:r>
                <a:rPr lang="en-US" sz="2800" dirty="0" err="1">
                  <a:solidFill>
                    <a:srgbClr val="06287E"/>
                  </a:solidFill>
                  <a:latin typeface="Courier"/>
                </a:rPr>
                <a:t>partition_by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[</a:t>
              </a: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rank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]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</a:t>
              </a:r>
              <a:r>
                <a:rPr lang="en-US" sz="2800" dirty="0" err="1">
                  <a:solidFill>
                    <a:srgbClr val="06287E"/>
                  </a:solidFill>
                  <a:latin typeface="Courier"/>
                </a:rPr>
                <a:t>phase_anomalies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  </a:t>
              </a:r>
              <a:r>
                <a:rPr lang="en-US" sz="2800" dirty="0">
                  <a:solidFill>
                    <a:srgbClr val="06287E"/>
                  </a:solidFill>
                  <a:latin typeface="Courier"/>
                </a:rPr>
                <a:t>inputs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[</a:t>
              </a:r>
              <a:r>
                <a:rPr lang="en-US" sz="2800" dirty="0" err="1">
                  <a:solidFill>
                    <a:srgbClr val="7D9029"/>
                  </a:solidFill>
                  <a:latin typeface="Courier"/>
                </a:rPr>
                <a:t>phase_trace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]</a:t>
              </a:r>
              <a:br>
                <a:rPr lang="en-US" sz="2800" dirty="0"/>
              </a:br>
              <a:r>
                <a:rPr lang="en-US" sz="2800" dirty="0">
                  <a:solidFill>
                    <a:srgbClr val="06287E"/>
                  </a:solidFill>
                  <a:latin typeface="Courier"/>
                </a:rPr>
                <a:t>    </a:t>
              </a:r>
              <a:r>
                <a:rPr lang="en-US" sz="2800" dirty="0" err="1">
                  <a:solidFill>
                    <a:srgbClr val="06287E"/>
                  </a:solidFill>
                  <a:latin typeface="Courier"/>
                </a:rPr>
                <a:t>sql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 </a:t>
              </a:r>
              <a:r>
                <a:rPr lang="en-US" sz="2800" dirty="0">
                  <a:solidFill>
                    <a:srgbClr val="4070A0"/>
                  </a:solidFill>
                  <a:latin typeface="Courier"/>
                </a:rPr>
                <a:t>|</a:t>
              </a:r>
              <a:br>
                <a:rPr lang="en-US" sz="2800" dirty="0"/>
              </a:br>
              <a:r>
                <a:rPr lang="en-US" sz="2800" dirty="0">
                  <a:latin typeface="Courier"/>
                </a:rPr>
                <a:t>      SELECT phase FROM </a:t>
              </a:r>
              <a:r>
                <a:rPr lang="en-US" sz="2800" dirty="0" err="1">
                  <a:latin typeface="Courier"/>
                </a:rPr>
                <a:t>phase_trace</a:t>
              </a:r>
              <a:br>
                <a:rPr lang="en-US" sz="2800" dirty="0"/>
              </a:br>
              <a:r>
                <a:rPr lang="en-US" sz="2800" dirty="0">
                  <a:latin typeface="Courier"/>
                </a:rPr>
                <a:t>      WHERE duration &gt; 100 </a:t>
              </a:r>
              <a:r>
                <a:rPr lang="en-US" sz="2800" dirty="0" err="1">
                  <a:latin typeface="Courier"/>
                </a:rPr>
                <a:t>ms</a:t>
              </a:r>
              <a:endParaRPr lang="en-US" sz="2800" dirty="0">
                <a:solidFill>
                  <a:srgbClr val="7D9029"/>
                </a:solidFill>
                <a:latin typeface="Courier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57FD8A5-8C21-2A8D-F2B9-CED802A2386F}"/>
              </a:ext>
            </a:extLst>
          </p:cNvPr>
          <p:cNvGrpSpPr/>
          <p:nvPr/>
        </p:nvGrpSpPr>
        <p:grpSpPr>
          <a:xfrm>
            <a:off x="8535220" y="2035493"/>
            <a:ext cx="6056263" cy="3274729"/>
            <a:chOff x="8574137" y="1849722"/>
            <a:chExt cx="6056263" cy="327472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830E31-D7D6-74E3-1AAC-33A9CDF1AC43}"/>
                </a:ext>
              </a:extLst>
            </p:cNvPr>
            <p:cNvSpPr/>
            <p:nvPr/>
          </p:nvSpPr>
          <p:spPr>
            <a:xfrm>
              <a:off x="8744768" y="2099245"/>
              <a:ext cx="5715000" cy="30252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01F9C5E3-CDBD-E0A5-F0AA-F47E46BD6788}"/>
                </a:ext>
              </a:extLst>
            </p:cNvPr>
            <p:cNvSpPr txBox="1">
              <a:spLocks/>
            </p:cNvSpPr>
            <p:nvPr/>
          </p:nvSpPr>
          <p:spPr>
            <a:xfrm>
              <a:off x="8574137" y="1849722"/>
              <a:ext cx="6056263" cy="3274728"/>
            </a:xfrm>
            <a:prstGeom prst="rect">
              <a:avLst/>
            </a:prstGeom>
          </p:spPr>
          <p:txBody>
            <a:bodyPr/>
            <a:lstStyle>
              <a:lvl1pPr marL="342900" indent="-336550" algn="l" defTabSz="1097280" rtl="0" eaLnBrk="1" latinLnBrk="0" hangingPunct="1">
                <a:lnSpc>
                  <a:spcPct val="90000"/>
                </a:lnSpc>
                <a:spcBef>
                  <a:spcPts val="2200"/>
                </a:spcBef>
                <a:buFont typeface="Arial" panose="020B0604020202020204" pitchFamily="34" charset="0"/>
                <a:buChar char="•"/>
                <a:tabLst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22325" indent="-417513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Courier New" panose="02070309020205020404" pitchFamily="49" charset="0"/>
                <a:buChar char="o"/>
                <a:tabLst/>
                <a:defRPr sz="2800" kern="1200">
                  <a:solidFill>
                    <a:schemeClr val="bg2">
                      <a:lumMod val="1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37160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92024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6888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1752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6616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1480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63440" indent="-274320" algn="l" defTabSz="109728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16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>
                <a:buFont typeface="Arial" panose="020B0604020202020204" pitchFamily="34" charset="0"/>
                <a:buNone/>
              </a:pPr>
              <a:br>
                <a:rPr lang="en-US" sz="2800" dirty="0"/>
              </a:br>
              <a:r>
                <a:rPr lang="en-US" sz="2800" dirty="0">
                  <a:solidFill>
                    <a:srgbClr val="06287E"/>
                  </a:solidFill>
                  <a:latin typeface="Courier"/>
                </a:rPr>
                <a:t>sinks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</a:t>
              </a:r>
              <a:r>
                <a:rPr lang="en-US" sz="2800" dirty="0" err="1">
                  <a:solidFill>
                    <a:srgbClr val="06287E"/>
                  </a:solidFill>
                  <a:latin typeface="Courier"/>
                </a:rPr>
                <a:t>anomalies_sink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  </a:t>
              </a:r>
              <a:r>
                <a:rPr lang="en-US" sz="2800" dirty="0">
                  <a:solidFill>
                    <a:srgbClr val="06287E"/>
                  </a:solidFill>
                  <a:latin typeface="Courier"/>
                </a:rPr>
                <a:t>from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</a:t>
              </a:r>
              <a:r>
                <a:rPr lang="en-US" sz="2800" dirty="0" err="1">
                  <a:solidFill>
                    <a:srgbClr val="7D9029"/>
                  </a:solidFill>
                  <a:latin typeface="Courier"/>
                </a:rPr>
                <a:t>phase_anomalies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  </a:t>
              </a:r>
              <a:r>
                <a:rPr lang="en-US" sz="2800" dirty="0">
                  <a:solidFill>
                    <a:srgbClr val="06287E"/>
                  </a:solidFill>
                  <a:latin typeface="Courier"/>
                </a:rPr>
                <a:t>type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</a:t>
              </a:r>
              <a:r>
                <a:rPr lang="en-US" sz="2800" dirty="0" err="1">
                  <a:solidFill>
                    <a:srgbClr val="7D9029"/>
                  </a:solidFill>
                  <a:latin typeface="Courier"/>
                </a:rPr>
                <a:t>grafana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</a:t>
              </a:r>
              <a:r>
                <a:rPr lang="en-US" sz="2800" dirty="0" err="1">
                  <a:solidFill>
                    <a:srgbClr val="06287E"/>
                  </a:solidFill>
                  <a:latin typeface="Courier"/>
                </a:rPr>
                <a:t>phase_trace_sink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  </a:t>
              </a:r>
              <a:r>
                <a:rPr lang="en-US" sz="2800" dirty="0">
                  <a:solidFill>
                    <a:srgbClr val="06287E"/>
                  </a:solidFill>
                  <a:latin typeface="Courier"/>
                </a:rPr>
                <a:t>from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</a:t>
              </a:r>
              <a:r>
                <a:rPr lang="en-US" sz="2800" dirty="0" err="1">
                  <a:solidFill>
                    <a:srgbClr val="7D9029"/>
                  </a:solidFill>
                  <a:latin typeface="Courier"/>
                </a:rPr>
                <a:t>phase_trace</a:t>
              </a:r>
              <a:br>
                <a:rPr lang="en-US" sz="2800" dirty="0"/>
              </a:b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   </a:t>
              </a:r>
              <a:r>
                <a:rPr lang="en-US" sz="2800" dirty="0">
                  <a:solidFill>
                    <a:srgbClr val="06287E"/>
                  </a:solidFill>
                  <a:latin typeface="Courier"/>
                </a:rPr>
                <a:t>type</a:t>
              </a:r>
              <a:r>
                <a:rPr lang="en-US" sz="2800" b="1" dirty="0">
                  <a:solidFill>
                    <a:srgbClr val="007020"/>
                  </a:solidFill>
                  <a:latin typeface="Courier"/>
                </a:rPr>
                <a:t>:</a:t>
              </a:r>
              <a:r>
                <a:rPr lang="en-US" sz="2800" dirty="0">
                  <a:solidFill>
                    <a:srgbClr val="7D9029"/>
                  </a:solidFill>
                  <a:latin typeface="Courier"/>
                </a:rPr>
                <a:t> parquet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32301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800E1-E936-EF2E-CE24-0C24CC73F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Ankush Jain  © August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04305-98CA-E4DA-9E99-0F38AC88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9360F-E7DE-819D-C30F-AD9BD34C5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pPr/>
              <a:t>34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F9F8A29-288C-3D8C-7470-908A7227C60D}"/>
              </a:ext>
            </a:extLst>
          </p:cNvPr>
          <p:cNvGrpSpPr/>
          <p:nvPr/>
        </p:nvGrpSpPr>
        <p:grpSpPr>
          <a:xfrm>
            <a:off x="1824069" y="1088876"/>
            <a:ext cx="1393372" cy="1323397"/>
            <a:chOff x="3837019" y="2682545"/>
            <a:chExt cx="1393372" cy="1323397"/>
          </a:xfrm>
        </p:grpSpPr>
        <p:sp>
          <p:nvSpPr>
            <p:cNvPr id="7" name="Folded Corner 6">
              <a:extLst>
                <a:ext uri="{FF2B5EF4-FFF2-40B4-BE49-F238E27FC236}">
                  <a16:creationId xmlns:a16="http://schemas.microsoft.com/office/drawing/2014/main" id="{C3EE17BA-22F8-5263-8750-0AE3588AE8DA}"/>
                </a:ext>
              </a:extLst>
            </p:cNvPr>
            <p:cNvSpPr/>
            <p:nvPr/>
          </p:nvSpPr>
          <p:spPr>
            <a:xfrm rot="10800000">
              <a:off x="3921283" y="2682545"/>
              <a:ext cx="1224838" cy="1323397"/>
            </a:xfrm>
            <a:prstGeom prst="foldedCorner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61DBAA3-72BD-ACC8-DEBB-A06F19747A50}"/>
                </a:ext>
              </a:extLst>
            </p:cNvPr>
            <p:cNvSpPr txBox="1"/>
            <p:nvPr/>
          </p:nvSpPr>
          <p:spPr>
            <a:xfrm>
              <a:off x="3837019" y="2906486"/>
              <a:ext cx="13933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PARQUET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CA36DD2B-657F-19D4-3391-8728A64CFD91}"/>
                </a:ext>
              </a:extLst>
            </p:cNvPr>
            <p:cNvSpPr/>
            <p:nvPr/>
          </p:nvSpPr>
          <p:spPr>
            <a:xfrm>
              <a:off x="4119851" y="3344997"/>
              <a:ext cx="827703" cy="99550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1054B596-9720-CCF9-BF51-93E5F07D7768}"/>
                </a:ext>
              </a:extLst>
            </p:cNvPr>
            <p:cNvSpPr/>
            <p:nvPr/>
          </p:nvSpPr>
          <p:spPr>
            <a:xfrm>
              <a:off x="4119851" y="3607043"/>
              <a:ext cx="827703" cy="99550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44CFB60-75E1-0619-7FDD-62906067935C}"/>
              </a:ext>
            </a:extLst>
          </p:cNvPr>
          <p:cNvGrpSpPr/>
          <p:nvPr/>
        </p:nvGrpSpPr>
        <p:grpSpPr>
          <a:xfrm>
            <a:off x="5818854" y="1000423"/>
            <a:ext cx="3998734" cy="1464129"/>
            <a:chOff x="7831804" y="2594092"/>
            <a:chExt cx="3998734" cy="1464129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43AFC228-2CF9-3460-1504-F21CA32D0993}"/>
                </a:ext>
              </a:extLst>
            </p:cNvPr>
            <p:cNvSpPr/>
            <p:nvPr/>
          </p:nvSpPr>
          <p:spPr>
            <a:xfrm>
              <a:off x="7831804" y="2594092"/>
              <a:ext cx="3998734" cy="1464129"/>
            </a:xfrm>
            <a:prstGeom prst="roundRect">
              <a:avLst>
                <a:gd name="adj" fmla="val 8489"/>
              </a:avLst>
            </a:prstGeom>
            <a:solidFill>
              <a:schemeClr val="accent2">
                <a:lumMod val="20000"/>
                <a:lumOff val="80000"/>
                <a:alpha val="79852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603BC15-A5C2-1EC3-EBA1-8913FD27E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2824" y="2774220"/>
              <a:ext cx="929874" cy="1103875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101D8666-58CC-86CA-3979-771C9F2B7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31171" y="2783226"/>
              <a:ext cx="929874" cy="110387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22486398-65AF-5CA9-F7A6-1DAC5AF16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01297" y="2783226"/>
              <a:ext cx="929874" cy="1103875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4E04FF4-0D3D-0F3C-4413-9D7FF4DE5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79644" y="2783226"/>
              <a:ext cx="929874" cy="1103875"/>
            </a:xfrm>
            <a:prstGeom prst="rect">
              <a:avLst/>
            </a:prstGeom>
          </p:spPr>
        </p:pic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611B47C0-62F3-9DB8-A93C-67EDAA4E6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00" y="1771831"/>
            <a:ext cx="4025900" cy="1498600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52D422E2-9C5D-1085-0A88-4325DC96CD34}"/>
              </a:ext>
            </a:extLst>
          </p:cNvPr>
          <p:cNvGrpSpPr/>
          <p:nvPr/>
        </p:nvGrpSpPr>
        <p:grpSpPr>
          <a:xfrm>
            <a:off x="914400" y="4167051"/>
            <a:ext cx="682502" cy="548639"/>
            <a:chOff x="9339943" y="3931921"/>
            <a:chExt cx="682502" cy="548639"/>
          </a:xfrm>
        </p:grpSpPr>
        <p:sp>
          <p:nvSpPr>
            <p:cNvPr id="49" name="Can 48">
              <a:extLst>
                <a:ext uri="{FF2B5EF4-FFF2-40B4-BE49-F238E27FC236}">
                  <a16:creationId xmlns:a16="http://schemas.microsoft.com/office/drawing/2014/main" id="{8F433A68-F851-56D3-95F4-505050CD2B6B}"/>
                </a:ext>
              </a:extLst>
            </p:cNvPr>
            <p:cNvSpPr/>
            <p:nvPr/>
          </p:nvSpPr>
          <p:spPr>
            <a:xfrm>
              <a:off x="9339943" y="3931921"/>
              <a:ext cx="679268" cy="182880"/>
            </a:xfrm>
            <a:prstGeom prst="can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Can 49">
              <a:extLst>
                <a:ext uri="{FF2B5EF4-FFF2-40B4-BE49-F238E27FC236}">
                  <a16:creationId xmlns:a16="http://schemas.microsoft.com/office/drawing/2014/main" id="{E388D106-04D9-B1FC-A954-C59CADB26F4D}"/>
                </a:ext>
              </a:extLst>
            </p:cNvPr>
            <p:cNvSpPr/>
            <p:nvPr/>
          </p:nvSpPr>
          <p:spPr>
            <a:xfrm>
              <a:off x="9339943" y="4114800"/>
              <a:ext cx="679268" cy="182880"/>
            </a:xfrm>
            <a:prstGeom prst="can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Can 50">
              <a:extLst>
                <a:ext uri="{FF2B5EF4-FFF2-40B4-BE49-F238E27FC236}">
                  <a16:creationId xmlns:a16="http://schemas.microsoft.com/office/drawing/2014/main" id="{3E200461-1AB8-5612-F98A-52AEAF6F5A4E}"/>
                </a:ext>
              </a:extLst>
            </p:cNvPr>
            <p:cNvSpPr/>
            <p:nvPr/>
          </p:nvSpPr>
          <p:spPr>
            <a:xfrm>
              <a:off x="9343177" y="4297680"/>
              <a:ext cx="679268" cy="182880"/>
            </a:xfrm>
            <a:prstGeom prst="can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01EBC7C-2EB2-3877-954D-E2340FADB1E9}"/>
              </a:ext>
            </a:extLst>
          </p:cNvPr>
          <p:cNvGrpSpPr/>
          <p:nvPr/>
        </p:nvGrpSpPr>
        <p:grpSpPr>
          <a:xfrm>
            <a:off x="549040" y="2057789"/>
            <a:ext cx="3637214" cy="1040195"/>
            <a:chOff x="5567597" y="5773992"/>
            <a:chExt cx="3637214" cy="1040195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A8581F5B-6397-50C1-6BBC-3D30AA57F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66694" y="6187674"/>
              <a:ext cx="1683090" cy="626513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BED2867-3427-086B-DEEB-C26B493EB6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15799" y="6202807"/>
              <a:ext cx="711200" cy="57150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C24C2AC-80E6-5F90-8D1B-C860D3191959}"/>
                </a:ext>
              </a:extLst>
            </p:cNvPr>
            <p:cNvSpPr txBox="1"/>
            <p:nvPr/>
          </p:nvSpPr>
          <p:spPr>
            <a:xfrm>
              <a:off x="5567597" y="5773992"/>
              <a:ext cx="3637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stream</a:t>
              </a:r>
              <a:r>
                <a:rPr lang="en-US" dirty="0"/>
                <a:t>: </a:t>
              </a:r>
              <a:r>
                <a:rPr lang="en-US" dirty="0" err="1"/>
                <a:t>mpitrace</a:t>
              </a:r>
              <a:r>
                <a:rPr lang="en-US" dirty="0"/>
                <a:t>, </a:t>
              </a:r>
              <a:r>
                <a:rPr lang="en-US" b="1" i="1" dirty="0"/>
                <a:t>timesteps</a:t>
              </a:r>
              <a:r>
                <a:rPr lang="en-US" dirty="0"/>
                <a:t>: 0-10</a:t>
              </a: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4F2D7AFF-AF2C-1129-6070-51E341ECDBA3}"/>
              </a:ext>
            </a:extLst>
          </p:cNvPr>
          <p:cNvSpPr/>
          <p:nvPr/>
        </p:nvSpPr>
        <p:spPr>
          <a:xfrm>
            <a:off x="9548771" y="1540936"/>
            <a:ext cx="2870595" cy="2030056"/>
          </a:xfrm>
          <a:prstGeom prst="rect">
            <a:avLst/>
          </a:prstGeom>
          <a:solidFill>
            <a:srgbClr val="FF0000">
              <a:alpha val="7868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Tier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DACB7CA-1566-6815-778F-287643A96CA0}"/>
              </a:ext>
            </a:extLst>
          </p:cNvPr>
          <p:cNvGrpSpPr/>
          <p:nvPr/>
        </p:nvGrpSpPr>
        <p:grpSpPr>
          <a:xfrm>
            <a:off x="5174381" y="4259032"/>
            <a:ext cx="1584625" cy="960095"/>
            <a:chOff x="10076269" y="1984504"/>
            <a:chExt cx="1584625" cy="960095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3048C59-42AA-BBE4-D63E-9C7D38D3BBCE}"/>
                </a:ext>
              </a:extLst>
            </p:cNvPr>
            <p:cNvSpPr/>
            <p:nvPr/>
          </p:nvSpPr>
          <p:spPr>
            <a:xfrm>
              <a:off x="10076269" y="1984504"/>
              <a:ext cx="1584625" cy="960095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47581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50" name="Picture 2" descr="DuckDB - Wikipedia">
              <a:extLst>
                <a:ext uri="{FF2B5EF4-FFF2-40B4-BE49-F238E27FC236}">
                  <a16:creationId xmlns:a16="http://schemas.microsoft.com/office/drawing/2014/main" id="{D5F41C6F-80EA-820E-57D1-A1C41CDF4F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7116" y="2093797"/>
              <a:ext cx="962929" cy="7415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A0A3B6A1-1553-9EC5-382C-4A3491E8D770}"/>
              </a:ext>
            </a:extLst>
          </p:cNvPr>
          <p:cNvSpPr/>
          <p:nvPr/>
        </p:nvSpPr>
        <p:spPr>
          <a:xfrm>
            <a:off x="10040854" y="1904738"/>
            <a:ext cx="2576778" cy="480047"/>
          </a:xfrm>
          <a:prstGeom prst="rect">
            <a:avLst/>
          </a:prstGeom>
          <a:solidFill>
            <a:srgbClr val="FF0000">
              <a:alpha val="7868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Root Aggregator</a:t>
            </a:r>
          </a:p>
        </p:txBody>
      </p:sp>
      <p:grpSp>
        <p:nvGrpSpPr>
          <p:cNvPr id="2058" name="Group 2057">
            <a:extLst>
              <a:ext uri="{FF2B5EF4-FFF2-40B4-BE49-F238E27FC236}">
                <a16:creationId xmlns:a16="http://schemas.microsoft.com/office/drawing/2014/main" id="{9D212AA4-AB10-C88D-B0A2-B0650CEC4936}"/>
              </a:ext>
            </a:extLst>
          </p:cNvPr>
          <p:cNvGrpSpPr/>
          <p:nvPr/>
        </p:nvGrpSpPr>
        <p:grpSpPr>
          <a:xfrm>
            <a:off x="11028529" y="1987248"/>
            <a:ext cx="1710079" cy="1024005"/>
            <a:chOff x="11028529" y="1987248"/>
            <a:chExt cx="1710079" cy="1024005"/>
          </a:xfrm>
        </p:grpSpPr>
        <p:sp>
          <p:nvSpPr>
            <p:cNvPr id="2048" name="Rectangle 2047">
              <a:extLst>
                <a:ext uri="{FF2B5EF4-FFF2-40B4-BE49-F238E27FC236}">
                  <a16:creationId xmlns:a16="http://schemas.microsoft.com/office/drawing/2014/main" id="{8C4F5842-8C1D-7BD6-9DB1-E1B88C202B69}"/>
                </a:ext>
              </a:extLst>
            </p:cNvPr>
            <p:cNvSpPr/>
            <p:nvPr/>
          </p:nvSpPr>
          <p:spPr>
            <a:xfrm>
              <a:off x="11028529" y="1987248"/>
              <a:ext cx="1710079" cy="102400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pic>
          <p:nvPicPr>
            <p:cNvPr id="2052" name="Picture 4" descr="Grafana - Wikipedia">
              <a:extLst>
                <a:ext uri="{FF2B5EF4-FFF2-40B4-BE49-F238E27FC236}">
                  <a16:creationId xmlns:a16="http://schemas.microsoft.com/office/drawing/2014/main" id="{414D8EF2-F5EF-F3E1-7D08-1D02ACB15C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28005" y="2119295"/>
              <a:ext cx="754024" cy="770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5" name="Graphic 2054" descr="Bar graph with upward trend with solid fill">
              <a:extLst>
                <a:ext uri="{FF2B5EF4-FFF2-40B4-BE49-F238E27FC236}">
                  <a16:creationId xmlns:a16="http://schemas.microsoft.com/office/drawing/2014/main" id="{6A55F429-C01D-2354-B160-70CE5393D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079362" y="2517350"/>
              <a:ext cx="474043" cy="474043"/>
            </a:xfrm>
            <a:prstGeom prst="rect">
              <a:avLst/>
            </a:prstGeom>
          </p:spPr>
        </p:pic>
        <p:pic>
          <p:nvPicPr>
            <p:cNvPr id="2057" name="Graphic 2056" descr="Periodic Graph with solid fill">
              <a:extLst>
                <a:ext uri="{FF2B5EF4-FFF2-40B4-BE49-F238E27FC236}">
                  <a16:creationId xmlns:a16="http://schemas.microsoft.com/office/drawing/2014/main" id="{7B46CD6D-09A0-0EA3-8D06-9419E82DC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037234" y="1989907"/>
              <a:ext cx="566057" cy="566057"/>
            </a:xfrm>
            <a:prstGeom prst="rect">
              <a:avLst/>
            </a:prstGeom>
          </p:spPr>
        </p:pic>
      </p:grpSp>
      <p:cxnSp>
        <p:nvCxnSpPr>
          <p:cNvPr id="2059" name="Straight Arrow Connector 2058">
            <a:extLst>
              <a:ext uri="{FF2B5EF4-FFF2-40B4-BE49-F238E27FC236}">
                <a16:creationId xmlns:a16="http://schemas.microsoft.com/office/drawing/2014/main" id="{8F1F0FB0-5F7C-998E-ECD0-CA7ECD9B2136}"/>
              </a:ext>
            </a:extLst>
          </p:cNvPr>
          <p:cNvCxnSpPr>
            <a:cxnSpLocks/>
          </p:cNvCxnSpPr>
          <p:nvPr/>
        </p:nvCxnSpPr>
        <p:spPr>
          <a:xfrm>
            <a:off x="10721637" y="1934038"/>
            <a:ext cx="1645920" cy="18100"/>
          </a:xfrm>
          <a:prstGeom prst="straightConnector1">
            <a:avLst/>
          </a:prstGeom>
          <a:ln>
            <a:solidFill>
              <a:srgbClr val="5F270A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98" name="Graphic 2097">
            <a:extLst>
              <a:ext uri="{FF2B5EF4-FFF2-40B4-BE49-F238E27FC236}">
                <a16:creationId xmlns:a16="http://schemas.microsoft.com/office/drawing/2014/main" id="{B2F0B8E4-2315-08F6-11D4-722BE5F494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96100" y="3543300"/>
            <a:ext cx="838200" cy="1143000"/>
          </a:xfrm>
          <a:prstGeom prst="rect">
            <a:avLst/>
          </a:prstGeom>
        </p:spPr>
      </p:pic>
      <p:grpSp>
        <p:nvGrpSpPr>
          <p:cNvPr id="2103" name="Group 2102">
            <a:extLst>
              <a:ext uri="{FF2B5EF4-FFF2-40B4-BE49-F238E27FC236}">
                <a16:creationId xmlns:a16="http://schemas.microsoft.com/office/drawing/2014/main" id="{40EF1B44-FE00-6A99-795A-43A4C35878AA}"/>
              </a:ext>
            </a:extLst>
          </p:cNvPr>
          <p:cNvGrpSpPr/>
          <p:nvPr/>
        </p:nvGrpSpPr>
        <p:grpSpPr>
          <a:xfrm>
            <a:off x="1042140" y="4769220"/>
            <a:ext cx="1064761" cy="1498599"/>
            <a:chOff x="1042140" y="4769220"/>
            <a:chExt cx="1064761" cy="1498599"/>
          </a:xfrm>
        </p:grpSpPr>
        <p:sp>
          <p:nvSpPr>
            <p:cNvPr id="2060" name="Folded Corner 2059">
              <a:extLst>
                <a:ext uri="{FF2B5EF4-FFF2-40B4-BE49-F238E27FC236}">
                  <a16:creationId xmlns:a16="http://schemas.microsoft.com/office/drawing/2014/main" id="{8ABFBD8F-F7BB-7E5E-5BAA-A60A362151E6}"/>
                </a:ext>
              </a:extLst>
            </p:cNvPr>
            <p:cNvSpPr/>
            <p:nvPr/>
          </p:nvSpPr>
          <p:spPr>
            <a:xfrm rot="10800000">
              <a:off x="1042140" y="4769220"/>
              <a:ext cx="1064761" cy="1498599"/>
            </a:xfrm>
            <a:prstGeom prst="foldedCorner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069" name="Group 2068">
              <a:extLst>
                <a:ext uri="{FF2B5EF4-FFF2-40B4-BE49-F238E27FC236}">
                  <a16:creationId xmlns:a16="http://schemas.microsoft.com/office/drawing/2014/main" id="{1AE393AD-6DB8-8709-7AF5-E4E222F99C06}"/>
                </a:ext>
              </a:extLst>
            </p:cNvPr>
            <p:cNvGrpSpPr/>
            <p:nvPr/>
          </p:nvGrpSpPr>
          <p:grpSpPr>
            <a:xfrm>
              <a:off x="1251968" y="5224722"/>
              <a:ext cx="274320" cy="892206"/>
              <a:chOff x="2520751" y="5088004"/>
              <a:chExt cx="274320" cy="892206"/>
            </a:xfrm>
          </p:grpSpPr>
          <p:sp>
            <p:nvSpPr>
              <p:cNvPr id="2061" name="Rectangle 2060">
                <a:extLst>
                  <a:ext uri="{FF2B5EF4-FFF2-40B4-BE49-F238E27FC236}">
                    <a16:creationId xmlns:a16="http://schemas.microsoft.com/office/drawing/2014/main" id="{AA506EE5-BB95-473F-75B0-B41855D842A2}"/>
                  </a:ext>
                </a:extLst>
              </p:cNvPr>
              <p:cNvSpPr/>
              <p:nvPr/>
            </p:nvSpPr>
            <p:spPr>
              <a:xfrm>
                <a:off x="2520751" y="5088004"/>
                <a:ext cx="274320" cy="274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7" name="Rectangle 2066">
                <a:extLst>
                  <a:ext uri="{FF2B5EF4-FFF2-40B4-BE49-F238E27FC236}">
                    <a16:creationId xmlns:a16="http://schemas.microsoft.com/office/drawing/2014/main" id="{3206E82B-04EA-56C4-ECE6-57D292FCF1F8}"/>
                  </a:ext>
                </a:extLst>
              </p:cNvPr>
              <p:cNvSpPr/>
              <p:nvPr/>
            </p:nvSpPr>
            <p:spPr>
              <a:xfrm>
                <a:off x="2520751" y="5394578"/>
                <a:ext cx="274320" cy="274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8" name="Rectangle 2067">
                <a:extLst>
                  <a:ext uri="{FF2B5EF4-FFF2-40B4-BE49-F238E27FC236}">
                    <a16:creationId xmlns:a16="http://schemas.microsoft.com/office/drawing/2014/main" id="{9AE0108C-1A36-212A-F6A2-BCDEC8B80441}"/>
                  </a:ext>
                </a:extLst>
              </p:cNvPr>
              <p:cNvSpPr/>
              <p:nvPr/>
            </p:nvSpPr>
            <p:spPr>
              <a:xfrm>
                <a:off x="2520751" y="5705890"/>
                <a:ext cx="274320" cy="274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74" name="TextBox 2073">
              <a:extLst>
                <a:ext uri="{FF2B5EF4-FFF2-40B4-BE49-F238E27FC236}">
                  <a16:creationId xmlns:a16="http://schemas.microsoft.com/office/drawing/2014/main" id="{0DE75BD9-8334-4A82-2BD8-56898E4C50E7}"/>
                </a:ext>
              </a:extLst>
            </p:cNvPr>
            <p:cNvSpPr txBox="1"/>
            <p:nvPr/>
          </p:nvSpPr>
          <p:spPr>
            <a:xfrm>
              <a:off x="1373298" y="4814099"/>
              <a:ext cx="7101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2">
                      <a:lumMod val="25000"/>
                    </a:schemeClr>
                  </a:solidFill>
                </a:rPr>
                <a:t>TS</a:t>
              </a:r>
            </a:p>
          </p:txBody>
        </p:sp>
        <p:grpSp>
          <p:nvGrpSpPr>
            <p:cNvPr id="2099" name="Group 2098">
              <a:extLst>
                <a:ext uri="{FF2B5EF4-FFF2-40B4-BE49-F238E27FC236}">
                  <a16:creationId xmlns:a16="http://schemas.microsoft.com/office/drawing/2014/main" id="{DF0738B9-F1B9-B05B-6CF4-B3B30E489E3C}"/>
                </a:ext>
              </a:extLst>
            </p:cNvPr>
            <p:cNvGrpSpPr/>
            <p:nvPr/>
          </p:nvGrpSpPr>
          <p:grpSpPr>
            <a:xfrm>
              <a:off x="1609057" y="5222353"/>
              <a:ext cx="274320" cy="892206"/>
              <a:chOff x="2520751" y="5088004"/>
              <a:chExt cx="274320" cy="892206"/>
            </a:xfrm>
          </p:grpSpPr>
          <p:sp>
            <p:nvSpPr>
              <p:cNvPr id="2100" name="Rectangle 2099">
                <a:extLst>
                  <a:ext uri="{FF2B5EF4-FFF2-40B4-BE49-F238E27FC236}">
                    <a16:creationId xmlns:a16="http://schemas.microsoft.com/office/drawing/2014/main" id="{91C5FD36-C04E-C488-2A3E-EA7AF2DDCDA1}"/>
                  </a:ext>
                </a:extLst>
              </p:cNvPr>
              <p:cNvSpPr/>
              <p:nvPr/>
            </p:nvSpPr>
            <p:spPr>
              <a:xfrm>
                <a:off x="2520751" y="5088004"/>
                <a:ext cx="274320" cy="274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1" name="Rectangle 2100">
                <a:extLst>
                  <a:ext uri="{FF2B5EF4-FFF2-40B4-BE49-F238E27FC236}">
                    <a16:creationId xmlns:a16="http://schemas.microsoft.com/office/drawing/2014/main" id="{5D092067-D85C-2DCF-E1B1-E1F480948B5A}"/>
                  </a:ext>
                </a:extLst>
              </p:cNvPr>
              <p:cNvSpPr/>
              <p:nvPr/>
            </p:nvSpPr>
            <p:spPr>
              <a:xfrm>
                <a:off x="2520751" y="5394578"/>
                <a:ext cx="274320" cy="274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2" name="Rectangle 2101">
                <a:extLst>
                  <a:ext uri="{FF2B5EF4-FFF2-40B4-BE49-F238E27FC236}">
                    <a16:creationId xmlns:a16="http://schemas.microsoft.com/office/drawing/2014/main" id="{C9297E9A-081E-4973-F636-2BC24E3FEFED}"/>
                  </a:ext>
                </a:extLst>
              </p:cNvPr>
              <p:cNvSpPr/>
              <p:nvPr/>
            </p:nvSpPr>
            <p:spPr>
              <a:xfrm>
                <a:off x="2520751" y="5705890"/>
                <a:ext cx="274320" cy="274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141" name="Group 2140">
            <a:extLst>
              <a:ext uri="{FF2B5EF4-FFF2-40B4-BE49-F238E27FC236}">
                <a16:creationId xmlns:a16="http://schemas.microsoft.com/office/drawing/2014/main" id="{95E75980-9202-B53E-8F50-228E98F4A2A7}"/>
              </a:ext>
            </a:extLst>
          </p:cNvPr>
          <p:cNvGrpSpPr/>
          <p:nvPr/>
        </p:nvGrpSpPr>
        <p:grpSpPr>
          <a:xfrm>
            <a:off x="2316091" y="4304134"/>
            <a:ext cx="2520328" cy="832389"/>
            <a:chOff x="3960216" y="5956256"/>
            <a:chExt cx="2520328" cy="832389"/>
          </a:xfrm>
        </p:grpSpPr>
        <p:sp>
          <p:nvSpPr>
            <p:cNvPr id="2116" name="Rectangle 2115">
              <a:extLst>
                <a:ext uri="{FF2B5EF4-FFF2-40B4-BE49-F238E27FC236}">
                  <a16:creationId xmlns:a16="http://schemas.microsoft.com/office/drawing/2014/main" id="{1BD0399D-98E8-68B1-CEDD-78F4EF359810}"/>
                </a:ext>
              </a:extLst>
            </p:cNvPr>
            <p:cNvSpPr/>
            <p:nvPr/>
          </p:nvSpPr>
          <p:spPr>
            <a:xfrm>
              <a:off x="3960216" y="5956256"/>
              <a:ext cx="2490348" cy="832389"/>
            </a:xfrm>
            <a:prstGeom prst="rect">
              <a:avLst/>
            </a:prstGeom>
            <a:solidFill>
              <a:srgbClr val="FF0000">
                <a:alpha val="4775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7" name="TextBox 2116">
              <a:extLst>
                <a:ext uri="{FF2B5EF4-FFF2-40B4-BE49-F238E27FC236}">
                  <a16:creationId xmlns:a16="http://schemas.microsoft.com/office/drawing/2014/main" id="{454FD2FD-F7BB-60AC-3CB0-DE7A7C72633D}"/>
                </a:ext>
              </a:extLst>
            </p:cNvPr>
            <p:cNvSpPr txBox="1"/>
            <p:nvPr/>
          </p:nvSpPr>
          <p:spPr>
            <a:xfrm>
              <a:off x="4005186" y="6114559"/>
              <a:ext cx="24753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err="1">
                  <a:solidFill>
                    <a:schemeClr val="bg2">
                      <a:lumMod val="25000"/>
                    </a:schemeClr>
                  </a:solidFill>
                </a:rPr>
                <a:t>TierPlan</a:t>
              </a:r>
              <a:r>
                <a:rPr lang="en-US" sz="2800" b="1" dirty="0">
                  <a:solidFill>
                    <a:schemeClr val="bg2">
                      <a:lumMod val="25000"/>
                    </a:schemeClr>
                  </a:solidFill>
                </a:rPr>
                <a:t> (        )</a:t>
              </a:r>
            </a:p>
          </p:txBody>
        </p:sp>
        <p:pic>
          <p:nvPicPr>
            <p:cNvPr id="2140" name="Picture 2139">
              <a:extLst>
                <a:ext uri="{FF2B5EF4-FFF2-40B4-BE49-F238E27FC236}">
                  <a16:creationId xmlns:a16="http://schemas.microsoft.com/office/drawing/2014/main" id="{B4C1B7E0-0F72-3BD3-D20D-8AA39D927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652086" y="6061187"/>
              <a:ext cx="479312" cy="646263"/>
            </a:xfrm>
            <a:prstGeom prst="rect">
              <a:avLst/>
            </a:prstGeom>
          </p:spPr>
        </p:pic>
      </p:grpSp>
      <p:sp>
        <p:nvSpPr>
          <p:cNvPr id="2144" name="Rectangle 2143">
            <a:extLst>
              <a:ext uri="{FF2B5EF4-FFF2-40B4-BE49-F238E27FC236}">
                <a16:creationId xmlns:a16="http://schemas.microsoft.com/office/drawing/2014/main" id="{BDE60F06-6A06-8086-887C-C297ED42D6A4}"/>
              </a:ext>
            </a:extLst>
          </p:cNvPr>
          <p:cNvSpPr/>
          <p:nvPr/>
        </p:nvSpPr>
        <p:spPr>
          <a:xfrm>
            <a:off x="7246998" y="4201242"/>
            <a:ext cx="1793406" cy="612857"/>
          </a:xfrm>
          <a:prstGeom prst="rect">
            <a:avLst/>
          </a:prstGeom>
          <a:solidFill>
            <a:srgbClr val="FF0000">
              <a:alpha val="4775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01" name="Group 2200">
            <a:extLst>
              <a:ext uri="{FF2B5EF4-FFF2-40B4-BE49-F238E27FC236}">
                <a16:creationId xmlns:a16="http://schemas.microsoft.com/office/drawing/2014/main" id="{1EDDFCC3-EBB9-6A23-8671-E9A1DD7322C3}"/>
              </a:ext>
            </a:extLst>
          </p:cNvPr>
          <p:cNvGrpSpPr/>
          <p:nvPr/>
        </p:nvGrpSpPr>
        <p:grpSpPr>
          <a:xfrm>
            <a:off x="8563149" y="5797130"/>
            <a:ext cx="5232054" cy="1070057"/>
            <a:chOff x="8563149" y="5797130"/>
            <a:chExt cx="5232054" cy="1070057"/>
          </a:xfrm>
        </p:grpSpPr>
        <p:grpSp>
          <p:nvGrpSpPr>
            <p:cNvPr id="2196" name="Group 2195">
              <a:extLst>
                <a:ext uri="{FF2B5EF4-FFF2-40B4-BE49-F238E27FC236}">
                  <a16:creationId xmlns:a16="http://schemas.microsoft.com/office/drawing/2014/main" id="{2BF52021-3DE1-25B6-50D9-82B1D4C48A95}"/>
                </a:ext>
              </a:extLst>
            </p:cNvPr>
            <p:cNvGrpSpPr/>
            <p:nvPr/>
          </p:nvGrpSpPr>
          <p:grpSpPr>
            <a:xfrm>
              <a:off x="11544597" y="5797130"/>
              <a:ext cx="2250606" cy="1070057"/>
              <a:chOff x="10285956" y="5349238"/>
              <a:chExt cx="2250606" cy="1070057"/>
            </a:xfrm>
          </p:grpSpPr>
          <p:grpSp>
            <p:nvGrpSpPr>
              <p:cNvPr id="2178" name="Group 2177">
                <a:extLst>
                  <a:ext uri="{FF2B5EF4-FFF2-40B4-BE49-F238E27FC236}">
                    <a16:creationId xmlns:a16="http://schemas.microsoft.com/office/drawing/2014/main" id="{B3E837ED-64CC-A496-5DCC-DA0082553BD5}"/>
                  </a:ext>
                </a:extLst>
              </p:cNvPr>
              <p:cNvGrpSpPr/>
              <p:nvPr/>
            </p:nvGrpSpPr>
            <p:grpSpPr>
              <a:xfrm>
                <a:off x="10285956" y="5349238"/>
                <a:ext cx="1793406" cy="612857"/>
                <a:chOff x="8871686" y="6372450"/>
                <a:chExt cx="1793406" cy="612857"/>
              </a:xfrm>
            </p:grpSpPr>
            <p:sp>
              <p:nvSpPr>
                <p:cNvPr id="2179" name="Rectangle 2178">
                  <a:extLst>
                    <a:ext uri="{FF2B5EF4-FFF2-40B4-BE49-F238E27FC236}">
                      <a16:creationId xmlns:a16="http://schemas.microsoft.com/office/drawing/2014/main" id="{86E82B70-97E0-99D6-B8CA-45DADA2C0A51}"/>
                    </a:ext>
                  </a:extLst>
                </p:cNvPr>
                <p:cNvSpPr/>
                <p:nvPr/>
              </p:nvSpPr>
              <p:spPr>
                <a:xfrm>
                  <a:off x="8871686" y="6372450"/>
                  <a:ext cx="1793406" cy="612857"/>
                </a:xfrm>
                <a:prstGeom prst="rect">
                  <a:avLst/>
                </a:prstGeom>
                <a:solidFill>
                  <a:srgbClr val="FFEAEA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80" name="TextBox 2179">
                  <a:extLst>
                    <a:ext uri="{FF2B5EF4-FFF2-40B4-BE49-F238E27FC236}">
                      <a16:creationId xmlns:a16="http://schemas.microsoft.com/office/drawing/2014/main" id="{4AD82911-FE8B-FC95-E339-6B22B79E09C7}"/>
                    </a:ext>
                  </a:extLst>
                </p:cNvPr>
                <p:cNvSpPr txBox="1"/>
                <p:nvPr/>
              </p:nvSpPr>
              <p:spPr>
                <a:xfrm>
                  <a:off x="8968330" y="6430850"/>
                  <a:ext cx="160011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1" dirty="0">
                      <a:solidFill>
                        <a:schemeClr val="bg2">
                          <a:lumMod val="25000"/>
                        </a:schemeClr>
                      </a:solidFill>
                    </a:rPr>
                    <a:t>Tier Plan</a:t>
                  </a:r>
                </a:p>
              </p:txBody>
            </p:sp>
          </p:grpSp>
          <p:grpSp>
            <p:nvGrpSpPr>
              <p:cNvPr id="2181" name="Group 2180">
                <a:extLst>
                  <a:ext uri="{FF2B5EF4-FFF2-40B4-BE49-F238E27FC236}">
                    <a16:creationId xmlns:a16="http://schemas.microsoft.com/office/drawing/2014/main" id="{2CC8998D-9226-168B-9B92-AB026DA3F6C3}"/>
                  </a:ext>
                </a:extLst>
              </p:cNvPr>
              <p:cNvGrpSpPr/>
              <p:nvPr/>
            </p:nvGrpSpPr>
            <p:grpSpPr>
              <a:xfrm>
                <a:off x="10438356" y="5501638"/>
                <a:ext cx="1793406" cy="612857"/>
                <a:chOff x="8871686" y="6372450"/>
                <a:chExt cx="1793406" cy="612857"/>
              </a:xfrm>
            </p:grpSpPr>
            <p:sp>
              <p:nvSpPr>
                <p:cNvPr id="2182" name="Rectangle 2181">
                  <a:extLst>
                    <a:ext uri="{FF2B5EF4-FFF2-40B4-BE49-F238E27FC236}">
                      <a16:creationId xmlns:a16="http://schemas.microsoft.com/office/drawing/2014/main" id="{66DB1A97-5500-9F3A-D090-84277661F876}"/>
                    </a:ext>
                  </a:extLst>
                </p:cNvPr>
                <p:cNvSpPr/>
                <p:nvPr/>
              </p:nvSpPr>
              <p:spPr>
                <a:xfrm>
                  <a:off x="8871686" y="6372450"/>
                  <a:ext cx="1793406" cy="612857"/>
                </a:xfrm>
                <a:prstGeom prst="rect">
                  <a:avLst/>
                </a:prstGeom>
                <a:solidFill>
                  <a:srgbClr val="FFEAEA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83" name="TextBox 2182">
                  <a:extLst>
                    <a:ext uri="{FF2B5EF4-FFF2-40B4-BE49-F238E27FC236}">
                      <a16:creationId xmlns:a16="http://schemas.microsoft.com/office/drawing/2014/main" id="{3F10BCF7-79E1-0A15-0BBD-F3C0C4B75B95}"/>
                    </a:ext>
                  </a:extLst>
                </p:cNvPr>
                <p:cNvSpPr txBox="1"/>
                <p:nvPr/>
              </p:nvSpPr>
              <p:spPr>
                <a:xfrm>
                  <a:off x="8968330" y="6430850"/>
                  <a:ext cx="160011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1" dirty="0">
                      <a:solidFill>
                        <a:schemeClr val="bg2">
                          <a:lumMod val="25000"/>
                        </a:schemeClr>
                      </a:solidFill>
                    </a:rPr>
                    <a:t>Tier Plan</a:t>
                  </a:r>
                </a:p>
              </p:txBody>
            </p:sp>
          </p:grpSp>
          <p:grpSp>
            <p:nvGrpSpPr>
              <p:cNvPr id="2184" name="Group 2183">
                <a:extLst>
                  <a:ext uri="{FF2B5EF4-FFF2-40B4-BE49-F238E27FC236}">
                    <a16:creationId xmlns:a16="http://schemas.microsoft.com/office/drawing/2014/main" id="{6CA10F4A-1289-B72C-90A7-75392CF549E5}"/>
                  </a:ext>
                </a:extLst>
              </p:cNvPr>
              <p:cNvGrpSpPr/>
              <p:nvPr/>
            </p:nvGrpSpPr>
            <p:grpSpPr>
              <a:xfrm>
                <a:off x="10590756" y="5654038"/>
                <a:ext cx="1793406" cy="612857"/>
                <a:chOff x="8871686" y="6372450"/>
                <a:chExt cx="1793406" cy="612857"/>
              </a:xfrm>
            </p:grpSpPr>
            <p:sp>
              <p:nvSpPr>
                <p:cNvPr id="2185" name="Rectangle 2184">
                  <a:extLst>
                    <a:ext uri="{FF2B5EF4-FFF2-40B4-BE49-F238E27FC236}">
                      <a16:creationId xmlns:a16="http://schemas.microsoft.com/office/drawing/2014/main" id="{21C8F523-3AD2-BB12-386A-424973BFA9E5}"/>
                    </a:ext>
                  </a:extLst>
                </p:cNvPr>
                <p:cNvSpPr/>
                <p:nvPr/>
              </p:nvSpPr>
              <p:spPr>
                <a:xfrm>
                  <a:off x="8871686" y="6372450"/>
                  <a:ext cx="1793406" cy="612857"/>
                </a:xfrm>
                <a:prstGeom prst="rect">
                  <a:avLst/>
                </a:prstGeom>
                <a:solidFill>
                  <a:srgbClr val="FFEAEA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86" name="TextBox 2185">
                  <a:extLst>
                    <a:ext uri="{FF2B5EF4-FFF2-40B4-BE49-F238E27FC236}">
                      <a16:creationId xmlns:a16="http://schemas.microsoft.com/office/drawing/2014/main" id="{DC59E1C9-C8F0-F51F-A920-53C23AFB28E0}"/>
                    </a:ext>
                  </a:extLst>
                </p:cNvPr>
                <p:cNvSpPr txBox="1"/>
                <p:nvPr/>
              </p:nvSpPr>
              <p:spPr>
                <a:xfrm>
                  <a:off x="8968330" y="6430850"/>
                  <a:ext cx="160011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1" dirty="0">
                      <a:solidFill>
                        <a:schemeClr val="bg2">
                          <a:lumMod val="25000"/>
                        </a:schemeClr>
                      </a:solidFill>
                    </a:rPr>
                    <a:t>Tier Plan</a:t>
                  </a:r>
                </a:p>
              </p:txBody>
            </p:sp>
          </p:grpSp>
          <p:grpSp>
            <p:nvGrpSpPr>
              <p:cNvPr id="2187" name="Group 2186">
                <a:extLst>
                  <a:ext uri="{FF2B5EF4-FFF2-40B4-BE49-F238E27FC236}">
                    <a16:creationId xmlns:a16="http://schemas.microsoft.com/office/drawing/2014/main" id="{4CCAD269-E14C-0360-E3AC-FE2707B480EB}"/>
                  </a:ext>
                </a:extLst>
              </p:cNvPr>
              <p:cNvGrpSpPr/>
              <p:nvPr/>
            </p:nvGrpSpPr>
            <p:grpSpPr>
              <a:xfrm>
                <a:off x="10743156" y="5806438"/>
                <a:ext cx="1793406" cy="612857"/>
                <a:chOff x="8871686" y="6372450"/>
                <a:chExt cx="1793406" cy="612857"/>
              </a:xfrm>
            </p:grpSpPr>
            <p:sp>
              <p:nvSpPr>
                <p:cNvPr id="2188" name="Rectangle 2187">
                  <a:extLst>
                    <a:ext uri="{FF2B5EF4-FFF2-40B4-BE49-F238E27FC236}">
                      <a16:creationId xmlns:a16="http://schemas.microsoft.com/office/drawing/2014/main" id="{E9C3803F-CC02-FFAC-421C-26C2F5646FE7}"/>
                    </a:ext>
                  </a:extLst>
                </p:cNvPr>
                <p:cNvSpPr/>
                <p:nvPr/>
              </p:nvSpPr>
              <p:spPr>
                <a:xfrm>
                  <a:off x="8871686" y="6372450"/>
                  <a:ext cx="1793406" cy="612857"/>
                </a:xfrm>
                <a:prstGeom prst="rect">
                  <a:avLst/>
                </a:prstGeom>
                <a:solidFill>
                  <a:srgbClr val="FFEAEA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89" name="TextBox 2188">
                  <a:extLst>
                    <a:ext uri="{FF2B5EF4-FFF2-40B4-BE49-F238E27FC236}">
                      <a16:creationId xmlns:a16="http://schemas.microsoft.com/office/drawing/2014/main" id="{011BDE83-DB96-AF45-32EA-2659A70121A3}"/>
                    </a:ext>
                  </a:extLst>
                </p:cNvPr>
                <p:cNvSpPr txBox="1"/>
                <p:nvPr/>
              </p:nvSpPr>
              <p:spPr>
                <a:xfrm>
                  <a:off x="8968330" y="6430850"/>
                  <a:ext cx="160011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1" dirty="0">
                      <a:solidFill>
                        <a:schemeClr val="bg2">
                          <a:lumMod val="25000"/>
                        </a:schemeClr>
                      </a:solidFill>
                    </a:rPr>
                    <a:t>Tier Plan</a:t>
                  </a:r>
                </a:p>
              </p:txBody>
            </p:sp>
          </p:grpSp>
        </p:grpSp>
        <p:grpSp>
          <p:nvGrpSpPr>
            <p:cNvPr id="2193" name="Group 2192">
              <a:extLst>
                <a:ext uri="{FF2B5EF4-FFF2-40B4-BE49-F238E27FC236}">
                  <a16:creationId xmlns:a16="http://schemas.microsoft.com/office/drawing/2014/main" id="{BB2C06DE-08B4-A66B-0B78-B077CC418B93}"/>
                </a:ext>
              </a:extLst>
            </p:cNvPr>
            <p:cNvGrpSpPr/>
            <p:nvPr/>
          </p:nvGrpSpPr>
          <p:grpSpPr>
            <a:xfrm>
              <a:off x="8563149" y="5994632"/>
              <a:ext cx="1793406" cy="612857"/>
              <a:chOff x="8871686" y="6372450"/>
              <a:chExt cx="1793406" cy="612857"/>
            </a:xfrm>
          </p:grpSpPr>
          <p:sp>
            <p:nvSpPr>
              <p:cNvPr id="2194" name="Rectangle 2193">
                <a:extLst>
                  <a:ext uri="{FF2B5EF4-FFF2-40B4-BE49-F238E27FC236}">
                    <a16:creationId xmlns:a16="http://schemas.microsoft.com/office/drawing/2014/main" id="{38575EA2-C9C4-FA46-6B23-D65DD19AF13E}"/>
                  </a:ext>
                </a:extLst>
              </p:cNvPr>
              <p:cNvSpPr/>
              <p:nvPr/>
            </p:nvSpPr>
            <p:spPr>
              <a:xfrm>
                <a:off x="8871686" y="6372450"/>
                <a:ext cx="1793406" cy="612857"/>
              </a:xfrm>
              <a:prstGeom prst="rect">
                <a:avLst/>
              </a:prstGeom>
              <a:solidFill>
                <a:srgbClr val="FFEAE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5" name="TextBox 2194">
                <a:extLst>
                  <a:ext uri="{FF2B5EF4-FFF2-40B4-BE49-F238E27FC236}">
                    <a16:creationId xmlns:a16="http://schemas.microsoft.com/office/drawing/2014/main" id="{4AC95A0E-2C1C-B438-6111-00768EB24F37}"/>
                  </a:ext>
                </a:extLst>
              </p:cNvPr>
              <p:cNvSpPr txBox="1"/>
              <p:nvPr/>
            </p:nvSpPr>
            <p:spPr>
              <a:xfrm>
                <a:off x="8893380" y="6430850"/>
                <a:ext cx="17633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solidFill>
                      <a:schemeClr val="bg2">
                        <a:lumMod val="25000"/>
                      </a:schemeClr>
                    </a:solidFill>
                  </a:rPr>
                  <a:t>Flow Plan</a:t>
                </a:r>
              </a:p>
            </p:txBody>
          </p:sp>
        </p:grpSp>
        <p:cxnSp>
          <p:nvCxnSpPr>
            <p:cNvPr id="2198" name="Straight Arrow Connector 2197">
              <a:extLst>
                <a:ext uri="{FF2B5EF4-FFF2-40B4-BE49-F238E27FC236}">
                  <a16:creationId xmlns:a16="http://schemas.microsoft.com/office/drawing/2014/main" id="{6DF6C31A-C4D2-F1F2-EF93-E8938CA65864}"/>
                </a:ext>
              </a:extLst>
            </p:cNvPr>
            <p:cNvCxnSpPr>
              <a:cxnSpLocks/>
            </p:cNvCxnSpPr>
            <p:nvPr/>
          </p:nvCxnSpPr>
          <p:spPr>
            <a:xfrm>
              <a:off x="10553075" y="6312730"/>
              <a:ext cx="776168" cy="0"/>
            </a:xfrm>
            <a:prstGeom prst="straightConnector1">
              <a:avLst/>
            </a:prstGeom>
            <a:ln w="25400">
              <a:solidFill>
                <a:srgbClr val="5F270A">
                  <a:alpha val="85000"/>
                </a:srgb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02" name="Group 2201">
            <a:extLst>
              <a:ext uri="{FF2B5EF4-FFF2-40B4-BE49-F238E27FC236}">
                <a16:creationId xmlns:a16="http://schemas.microsoft.com/office/drawing/2014/main" id="{9A70E594-CB58-F4C5-37F6-A983B8413C8A}"/>
              </a:ext>
            </a:extLst>
          </p:cNvPr>
          <p:cNvGrpSpPr/>
          <p:nvPr/>
        </p:nvGrpSpPr>
        <p:grpSpPr>
          <a:xfrm>
            <a:off x="7152571" y="1284182"/>
            <a:ext cx="4512167" cy="1627198"/>
            <a:chOff x="3586762" y="1931224"/>
            <a:chExt cx="4512167" cy="1627198"/>
          </a:xfrm>
        </p:grpSpPr>
        <p:grpSp>
          <p:nvGrpSpPr>
            <p:cNvPr id="2203" name="Group 2202">
              <a:extLst>
                <a:ext uri="{FF2B5EF4-FFF2-40B4-BE49-F238E27FC236}">
                  <a16:creationId xmlns:a16="http://schemas.microsoft.com/office/drawing/2014/main" id="{3F888ADA-1EBC-155E-3886-A111648F3128}"/>
                </a:ext>
              </a:extLst>
            </p:cNvPr>
            <p:cNvGrpSpPr/>
            <p:nvPr/>
          </p:nvGrpSpPr>
          <p:grpSpPr>
            <a:xfrm>
              <a:off x="3586762" y="1931224"/>
              <a:ext cx="4512167" cy="1627198"/>
              <a:chOff x="3996195" y="2108645"/>
              <a:chExt cx="4512167" cy="1627198"/>
            </a:xfrm>
          </p:grpSpPr>
          <p:sp>
            <p:nvSpPr>
              <p:cNvPr id="2208" name="Rounded Rectangle 2207">
                <a:extLst>
                  <a:ext uri="{FF2B5EF4-FFF2-40B4-BE49-F238E27FC236}">
                    <a16:creationId xmlns:a16="http://schemas.microsoft.com/office/drawing/2014/main" id="{622A6557-E055-C3C9-342D-A032DC2ACB59}"/>
                  </a:ext>
                </a:extLst>
              </p:cNvPr>
              <p:cNvSpPr/>
              <p:nvPr/>
            </p:nvSpPr>
            <p:spPr>
              <a:xfrm>
                <a:off x="3996195" y="2108645"/>
                <a:ext cx="4512167" cy="1627198"/>
              </a:xfrm>
              <a:prstGeom prst="roundRect">
                <a:avLst>
                  <a:gd name="adj" fmla="val 4278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209" name="Picture 2208">
                <a:extLst>
                  <a:ext uri="{FF2B5EF4-FFF2-40B4-BE49-F238E27FC236}">
                    <a16:creationId xmlns:a16="http://schemas.microsoft.com/office/drawing/2014/main" id="{03043F7F-B466-4A52-A0AA-532432A500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298001" y="2677031"/>
                <a:ext cx="578798" cy="780402"/>
              </a:xfrm>
              <a:prstGeom prst="rect">
                <a:avLst/>
              </a:prstGeom>
            </p:spPr>
          </p:pic>
          <p:pic>
            <p:nvPicPr>
              <p:cNvPr id="2210" name="Picture 2209">
                <a:extLst>
                  <a:ext uri="{FF2B5EF4-FFF2-40B4-BE49-F238E27FC236}">
                    <a16:creationId xmlns:a16="http://schemas.microsoft.com/office/drawing/2014/main" id="{4E108789-9716-3BD7-5C56-FCEDE3F549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450401" y="2829431"/>
                <a:ext cx="578798" cy="780402"/>
              </a:xfrm>
              <a:prstGeom prst="rect">
                <a:avLst/>
              </a:prstGeom>
            </p:spPr>
          </p:pic>
          <p:pic>
            <p:nvPicPr>
              <p:cNvPr id="2211" name="Picture 2210">
                <a:extLst>
                  <a:ext uri="{FF2B5EF4-FFF2-40B4-BE49-F238E27FC236}">
                    <a16:creationId xmlns:a16="http://schemas.microsoft.com/office/drawing/2014/main" id="{97F73A1C-8430-D421-E9C3-87AB45FD6C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08644" y="2677031"/>
                <a:ext cx="578798" cy="780402"/>
              </a:xfrm>
              <a:prstGeom prst="rect">
                <a:avLst/>
              </a:prstGeom>
            </p:spPr>
          </p:pic>
          <p:pic>
            <p:nvPicPr>
              <p:cNvPr id="2212" name="Picture 2211">
                <a:extLst>
                  <a:ext uri="{FF2B5EF4-FFF2-40B4-BE49-F238E27FC236}">
                    <a16:creationId xmlns:a16="http://schemas.microsoft.com/office/drawing/2014/main" id="{E5C36D62-193B-7065-0F99-35E80466E9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61044" y="2829431"/>
                <a:ext cx="578798" cy="780402"/>
              </a:xfrm>
              <a:prstGeom prst="rect">
                <a:avLst/>
              </a:prstGeom>
            </p:spPr>
          </p:pic>
          <p:pic>
            <p:nvPicPr>
              <p:cNvPr id="2213" name="Picture 2212">
                <a:extLst>
                  <a:ext uri="{FF2B5EF4-FFF2-40B4-BE49-F238E27FC236}">
                    <a16:creationId xmlns:a16="http://schemas.microsoft.com/office/drawing/2014/main" id="{79EDAB13-455F-31C2-23C6-C720F152FF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319287" y="2677031"/>
                <a:ext cx="578798" cy="780402"/>
              </a:xfrm>
              <a:prstGeom prst="rect">
                <a:avLst/>
              </a:prstGeom>
            </p:spPr>
          </p:pic>
          <p:pic>
            <p:nvPicPr>
              <p:cNvPr id="2214" name="Picture 2213">
                <a:extLst>
                  <a:ext uri="{FF2B5EF4-FFF2-40B4-BE49-F238E27FC236}">
                    <a16:creationId xmlns:a16="http://schemas.microsoft.com/office/drawing/2014/main" id="{C6F5B78B-4162-E4EC-832D-3EFB77977F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71687" y="2829431"/>
                <a:ext cx="578798" cy="780402"/>
              </a:xfrm>
              <a:prstGeom prst="rect">
                <a:avLst/>
              </a:prstGeom>
            </p:spPr>
          </p:pic>
          <p:pic>
            <p:nvPicPr>
              <p:cNvPr id="2215" name="Picture 2214">
                <a:extLst>
                  <a:ext uri="{FF2B5EF4-FFF2-40B4-BE49-F238E27FC236}">
                    <a16:creationId xmlns:a16="http://schemas.microsoft.com/office/drawing/2014/main" id="{6BF9DA82-B5F8-9CF2-AA98-8D94955C9C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29930" y="2677031"/>
                <a:ext cx="578798" cy="780402"/>
              </a:xfrm>
              <a:prstGeom prst="rect">
                <a:avLst/>
              </a:prstGeom>
            </p:spPr>
          </p:pic>
          <p:pic>
            <p:nvPicPr>
              <p:cNvPr id="2216" name="Picture 2215">
                <a:extLst>
                  <a:ext uri="{FF2B5EF4-FFF2-40B4-BE49-F238E27FC236}">
                    <a16:creationId xmlns:a16="http://schemas.microsoft.com/office/drawing/2014/main" id="{F87E1A8E-3342-2837-2430-228FFF25DF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482330" y="2829431"/>
                <a:ext cx="578798" cy="780402"/>
              </a:xfrm>
              <a:prstGeom prst="rect">
                <a:avLst/>
              </a:prstGeom>
            </p:spPr>
          </p:pic>
        </p:grpSp>
        <p:sp>
          <p:nvSpPr>
            <p:cNvPr id="2204" name="TextBox 2203">
              <a:extLst>
                <a:ext uri="{FF2B5EF4-FFF2-40B4-BE49-F238E27FC236}">
                  <a16:creationId xmlns:a16="http://schemas.microsoft.com/office/drawing/2014/main" id="{212B9ABD-C32A-69B3-AE1E-CBF6BE6F6DBA}"/>
                </a:ext>
              </a:extLst>
            </p:cNvPr>
            <p:cNvSpPr txBox="1"/>
            <p:nvPr/>
          </p:nvSpPr>
          <p:spPr>
            <a:xfrm>
              <a:off x="3767309" y="1967746"/>
              <a:ext cx="8490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Part. 0</a:t>
              </a:r>
            </a:p>
          </p:txBody>
        </p:sp>
        <p:sp>
          <p:nvSpPr>
            <p:cNvPr id="2205" name="TextBox 2204">
              <a:extLst>
                <a:ext uri="{FF2B5EF4-FFF2-40B4-BE49-F238E27FC236}">
                  <a16:creationId xmlns:a16="http://schemas.microsoft.com/office/drawing/2014/main" id="{556A759A-358B-CB17-9A82-0CC4FCB202D1}"/>
                </a:ext>
              </a:extLst>
            </p:cNvPr>
            <p:cNvSpPr txBox="1"/>
            <p:nvPr/>
          </p:nvSpPr>
          <p:spPr>
            <a:xfrm>
              <a:off x="4827500" y="1969816"/>
              <a:ext cx="8490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Part. 1</a:t>
              </a:r>
            </a:p>
          </p:txBody>
        </p:sp>
        <p:sp>
          <p:nvSpPr>
            <p:cNvPr id="2206" name="TextBox 2205">
              <a:extLst>
                <a:ext uri="{FF2B5EF4-FFF2-40B4-BE49-F238E27FC236}">
                  <a16:creationId xmlns:a16="http://schemas.microsoft.com/office/drawing/2014/main" id="{F39BCC69-94C5-2B30-42A6-414A9328309D}"/>
                </a:ext>
              </a:extLst>
            </p:cNvPr>
            <p:cNvSpPr txBox="1"/>
            <p:nvPr/>
          </p:nvSpPr>
          <p:spPr>
            <a:xfrm>
              <a:off x="5842846" y="1967746"/>
              <a:ext cx="8490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Part. 2</a:t>
              </a:r>
            </a:p>
          </p:txBody>
        </p:sp>
        <p:sp>
          <p:nvSpPr>
            <p:cNvPr id="2207" name="TextBox 2206">
              <a:extLst>
                <a:ext uri="{FF2B5EF4-FFF2-40B4-BE49-F238E27FC236}">
                  <a16:creationId xmlns:a16="http://schemas.microsoft.com/office/drawing/2014/main" id="{7E5259D8-0853-A911-F371-7AC75C2B8628}"/>
                </a:ext>
              </a:extLst>
            </p:cNvPr>
            <p:cNvSpPr txBox="1"/>
            <p:nvPr/>
          </p:nvSpPr>
          <p:spPr>
            <a:xfrm>
              <a:off x="6903037" y="1969816"/>
              <a:ext cx="8490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Part. 3</a:t>
              </a:r>
            </a:p>
          </p:txBody>
        </p:sp>
      </p:grpSp>
      <p:pic>
        <p:nvPicPr>
          <p:cNvPr id="2228" name="Picture 2227">
            <a:extLst>
              <a:ext uri="{FF2B5EF4-FFF2-40B4-BE49-F238E27FC236}">
                <a16:creationId xmlns:a16="http://schemas.microsoft.com/office/drawing/2014/main" id="{AE69F39C-F63E-F1F9-DCF7-8B41BA16306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50050" y="3352800"/>
            <a:ext cx="11303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485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5ED1BF-ED27-48B1-9A1D-B1CB12DB8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960BB-A0AC-DB4C-8009-6FD1AE11AAB7}" type="datetime4">
              <a:rPr lang="en-US" smtClean="0"/>
              <a:t>August 15,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6AC71-E51C-58D5-754F-7FD2E7803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https://www.pdl.cmu.edu/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0F083-BE62-EE48-9476-9EA12422F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28F8B-7678-F54D-B752-F6E8A9D5F200}" type="slidenum">
              <a:rPr lang="en-US" smtClean="0"/>
              <a:t>35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D0146E-0C12-C118-323C-5D415478D19F}"/>
              </a:ext>
            </a:extLst>
          </p:cNvPr>
          <p:cNvGrpSpPr/>
          <p:nvPr/>
        </p:nvGrpSpPr>
        <p:grpSpPr>
          <a:xfrm>
            <a:off x="3607783" y="3709043"/>
            <a:ext cx="3416888" cy="3232072"/>
            <a:chOff x="459156" y="280043"/>
            <a:chExt cx="3416888" cy="32320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01E8967-8594-F042-14B1-7075BD013C17}"/>
                </a:ext>
              </a:extLst>
            </p:cNvPr>
            <p:cNvSpPr/>
            <p:nvPr/>
          </p:nvSpPr>
          <p:spPr>
            <a:xfrm>
              <a:off x="459156" y="280043"/>
              <a:ext cx="3416888" cy="32320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928E5D5-6D86-B3B1-7465-BE6B1AE04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68527"/>
            <a:stretch>
              <a:fillRect/>
            </a:stretch>
          </p:blipFill>
          <p:spPr>
            <a:xfrm>
              <a:off x="459156" y="280043"/>
              <a:ext cx="3291840" cy="3232072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7FF0D3-2FA0-C913-BA08-890945D5005A}"/>
              </a:ext>
            </a:extLst>
          </p:cNvPr>
          <p:cNvGrpSpPr/>
          <p:nvPr/>
        </p:nvGrpSpPr>
        <p:grpSpPr>
          <a:xfrm>
            <a:off x="1816494" y="230811"/>
            <a:ext cx="3582578" cy="3330536"/>
            <a:chOff x="3442093" y="280043"/>
            <a:chExt cx="3582578" cy="333053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805CDB7-1D1D-E37A-712F-07B7937B1CB1}"/>
                </a:ext>
              </a:extLst>
            </p:cNvPr>
            <p:cNvSpPr/>
            <p:nvPr/>
          </p:nvSpPr>
          <p:spPr>
            <a:xfrm>
              <a:off x="3607783" y="378507"/>
              <a:ext cx="3416888" cy="32320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650765A-C08F-59AE-BC8F-56A2A412C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4264" r="34264"/>
            <a:stretch>
              <a:fillRect/>
            </a:stretch>
          </p:blipFill>
          <p:spPr>
            <a:xfrm>
              <a:off x="3442093" y="280043"/>
              <a:ext cx="3291840" cy="3232072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2D9284-7468-B76C-13A3-1FC99BA5365F}"/>
              </a:ext>
            </a:extLst>
          </p:cNvPr>
          <p:cNvGrpSpPr/>
          <p:nvPr/>
        </p:nvGrpSpPr>
        <p:grpSpPr>
          <a:xfrm>
            <a:off x="6378740" y="263879"/>
            <a:ext cx="3291840" cy="3232072"/>
            <a:chOff x="6378740" y="263879"/>
            <a:chExt cx="3291840" cy="32320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2116C42-4F43-A930-ADBE-191C569DA4D9}"/>
                </a:ext>
              </a:extLst>
            </p:cNvPr>
            <p:cNvSpPr/>
            <p:nvPr/>
          </p:nvSpPr>
          <p:spPr>
            <a:xfrm>
              <a:off x="6425030" y="296948"/>
              <a:ext cx="3199261" cy="31659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9B22D62-2A54-820F-8E54-EEAF80B83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1755" t="2809" r="-3227" b="-2809"/>
            <a:stretch>
              <a:fillRect/>
            </a:stretch>
          </p:blipFill>
          <p:spPr>
            <a:xfrm>
              <a:off x="6378740" y="263879"/>
              <a:ext cx="3291840" cy="32320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6341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3050</TotalTime>
  <Words>2420</Words>
  <Application>Microsoft Macintosh PowerPoint</Application>
  <PresentationFormat>Custom</PresentationFormat>
  <Paragraphs>473</Paragraphs>
  <Slides>35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Aptos</vt:lpstr>
      <vt:lpstr>Aptos Display</vt:lpstr>
      <vt:lpstr>Aptos Mono</vt:lpstr>
      <vt:lpstr>Arial</vt:lpstr>
      <vt:lpstr>Cambria Math</vt:lpstr>
      <vt:lpstr>Courier</vt:lpstr>
      <vt:lpstr>Courier New</vt:lpstr>
      <vt:lpstr>Times New Roman</vt:lpstr>
      <vt:lpstr>Office Theme</vt:lpstr>
      <vt:lpstr>A Unified Approach to Bulk Synchronous Parallel Observability Using Relational Dataflows</vt:lpstr>
      <vt:lpstr>This Work: BSP Efficiency</vt:lpstr>
      <vt:lpstr>BSP: Hardware and Application Archetypes</vt:lpstr>
      <vt:lpstr>BSP Execution and Challenges</vt:lpstr>
      <vt:lpstr>Initial Work: Systems for Compute and Data Paths</vt:lpstr>
      <vt:lpstr>ORCA: Programmable, Real-time Observability</vt:lpstr>
      <vt:lpstr>Thesis Statement</vt:lpstr>
      <vt:lpstr>Talk Outline</vt:lpstr>
      <vt:lpstr>CARP: Continuous, Adaptive Range Partitioner</vt:lpstr>
      <vt:lpstr>AMR</vt:lpstr>
      <vt:lpstr>ORCA Motivation: Lessons from AMR Work</vt:lpstr>
      <vt:lpstr>Status Quo (Aggregates/Tracing) Is Inadequate</vt:lpstr>
      <vt:lpstr>Case Study: Pytorch Kineto Ecosystem</vt:lpstr>
      <vt:lpstr>Why Do Timeseries DBs Not Work?</vt:lpstr>
      <vt:lpstr>ORCA: A TBON for Aggregation and Broadcast</vt:lpstr>
      <vt:lpstr>Orca Flow: DSL With Nodes and Sinks</vt:lpstr>
      <vt:lpstr>Distributed Query Planning</vt:lpstr>
      <vt:lpstr>Aggregation: Multi-Tier, Multiple Sinks</vt:lpstr>
      <vt:lpstr>Collection Preserves Ordering and Partitioning</vt:lpstr>
      <vt:lpstr>Control: Async, Timestep-Consistent 2PC</vt:lpstr>
      <vt:lpstr>TS2PC Cases</vt:lpstr>
      <vt:lpstr>Potential Use Cases</vt:lpstr>
      <vt:lpstr>Implementation Status and Eval. Roadmap</vt:lpstr>
      <vt:lpstr>Graduation Timeline</vt:lpstr>
      <vt:lpstr>Conclusion: BSP Efficiency Needs BSP O11y</vt:lpstr>
      <vt:lpstr>Notes For Self</vt:lpstr>
      <vt:lpstr>Outline - Intro</vt:lpstr>
      <vt:lpstr>BSP: Common Challenges</vt:lpstr>
      <vt:lpstr>Basic Table</vt:lpstr>
      <vt:lpstr>Basic Code Snippet</vt:lpstr>
      <vt:lpstr>Figures and Columns</vt:lpstr>
      <vt:lpstr>BSP: Hardware and Application Archetypes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71</Words>
  <Application>Microsoft Macintosh PowerPoint</Application>
  <PresentationFormat>Custom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Courier New</vt:lpstr>
      <vt:lpstr>Gill Sans Light</vt:lpstr>
      <vt:lpstr>Office Theme</vt:lpstr>
      <vt:lpstr>A Unified Approach to Bulk Synchronous Parallel Observability Using Relational Dataflows</vt:lpstr>
      <vt:lpstr>PowerPoint Presentation</vt:lpstr>
      <vt:lpstr>Title Of My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Unified Approach to Bulk-Synchronous Parallel Observability Using Relational Dataflows</dc:title>
  <dc:creator>Ankush Jain</dc:creator>
  <cp:keywords/>
  <cp:lastModifiedBy>Ankush Jain</cp:lastModifiedBy>
  <cp:revision>106</cp:revision>
  <dcterms:created xsi:type="dcterms:W3CDTF">2025-08-13T20:32:56Z</dcterms:created>
  <dcterms:modified xsi:type="dcterms:W3CDTF">2025-08-15T23:58:18Z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